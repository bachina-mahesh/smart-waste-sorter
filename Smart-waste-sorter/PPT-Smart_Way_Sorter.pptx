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sldIdLst>
    <p:sldId id="256" r:id="rId3"/>
    <p:sldId id="257" r:id="rId4"/>
    <p:sldId id="258" r:id="rId5"/>
    <p:sldId id="259" r:id="rId6"/>
    <p:sldId id="261" r:id="rId7"/>
    <p:sldId id="262" r:id="rId8"/>
    <p:sldId id="268" r:id="rId9"/>
    <p:sldId id="263" r:id="rId10"/>
    <p:sldId id="269" r:id="rId11"/>
    <p:sldId id="270" r:id="rId12"/>
    <p:sldId id="264" r:id="rId13"/>
    <p:sldId id="265" r:id="rId14"/>
    <p:sldId id="267" r:id="rId15"/>
    <p:sldId id="266" r:id="rId16"/>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9122"/>
    <p:restoredTop sz="94403"/>
  </p:normalViewPr>
  <p:slideViewPr>
    <p:cSldViewPr snapToGrid="0" showGuides="1">
      <p:cViewPr varScale="1">
        <p:scale>
          <a:sx n="94" d="100"/>
          <a:sy n="94" d="100"/>
        </p:scale>
        <p:origin x="82" y="250"/>
      </p:cViewPr>
      <p:guideLst>
        <p:guide orient="horz" pos="212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B0CD2A3-FB45-4824-8DE6-6D97B7FE9F4A}" type="datetimeFigureOut">
              <a:rPr kumimoji="0" lang="en-IN" sz="1200" b="0" i="0" u="none" strike="noStrike" kern="1200" cap="none" spc="0" normalizeH="0" baseline="0" noProof="0">
                <a:ln>
                  <a:noFill/>
                </a:ln>
                <a:solidFill>
                  <a:schemeClr val="tx1"/>
                </a:solidFill>
                <a:effectLst/>
                <a:uLnTx/>
                <a:uFillTx/>
                <a:latin typeface="+mn-lt"/>
                <a:ea typeface="+mn-ea"/>
                <a:cs typeface="+mn-cs"/>
              </a:rPr>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a:buNone/>
            </a:pPr>
            <a:fld id="{9A0DB2DC-4C9A-4742-B13C-FB6460FD3503}" type="slidenum">
              <a:rPr lang="en-IN" altLang="en-US" sz="1200" dirty="0"/>
            </a:fld>
            <a:endParaRPr lang="en-I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6387C82C-4646-4C8A-913E-C3394876366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latin typeface="Calibri" pitchFamily="34" charset="0"/>
              </a:rPr>
            </a:fld>
            <a:endParaRPr lang="en-IN" altLang="en-US" dirty="0">
              <a:latin typeface="Calibri"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051" name="Picture 8"/>
          <p:cNvPicPr>
            <a:picLocks noChangeAspect="1"/>
          </p:cNvPicPr>
          <p:nvPr userDrawn="1"/>
        </p:nvPicPr>
        <p:blipFill>
          <a:blip r:embed="rId2"/>
          <a:stretch>
            <a:fillRect/>
          </a:stretch>
        </p:blipFill>
        <p:spPr>
          <a:xfrm>
            <a:off x="9248775" y="0"/>
            <a:ext cx="2943225" cy="914400"/>
          </a:xfrm>
          <a:prstGeom prst="rect">
            <a:avLst/>
          </a:prstGeom>
          <a:noFill/>
          <a:ln w="9525">
            <a:noFill/>
          </a:ln>
        </p:spPr>
      </p:pic>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9"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28D1EBFA-73FB-4368-B147-82D04A4D7BA7}"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0"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1"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p>
            <a:pPr algn="r">
              <a:buNone/>
            </a:pPr>
            <a:fld id="{9A0DB2DC-4C9A-4742-B13C-FB6460FD3503}" type="slidenum">
              <a:rPr lang="en-IN" altLang="en-US" dirty="0"/>
            </a:fld>
            <a:endParaRPr lang="en-I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3075" name="Picture 8"/>
          <p:cNvPicPr>
            <a:picLocks noChangeAspect="1"/>
          </p:cNvPicPr>
          <p:nvPr userDrawn="1"/>
        </p:nvPicPr>
        <p:blipFill>
          <a:blip r:embed="rId2"/>
          <a:stretch>
            <a:fillRect/>
          </a:stretch>
        </p:blipFill>
        <p:spPr>
          <a:xfrm>
            <a:off x="9248775" y="0"/>
            <a:ext cx="2943225" cy="914400"/>
          </a:xfrm>
          <a:prstGeom prst="rect">
            <a:avLst/>
          </a:prstGeom>
          <a:noFill/>
          <a:ln w="9525">
            <a:noFill/>
          </a:ln>
        </p:spPr>
      </p:pic>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9"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166183E4-AD2F-459D-A80F-90C550FEEA3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p>
            <a:pPr algn="r">
              <a:buNone/>
            </a:pPr>
            <a:fld id="{9A0DB2DC-4C9A-4742-B13C-FB6460FD3503}" type="slidenum">
              <a:rPr lang="en-IN" altLang="en-US" dirty="0"/>
            </a:fld>
            <a:endParaRPr lang="en-I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4099" name="Picture 7"/>
          <p:cNvPicPr>
            <a:picLocks noChangeAspect="1"/>
          </p:cNvPicPr>
          <p:nvPr userDrawn="1"/>
        </p:nvPicPr>
        <p:blipFill>
          <a:blip r:embed="rId2"/>
          <a:stretch>
            <a:fillRect/>
          </a:stretch>
        </p:blipFill>
        <p:spPr>
          <a:xfrm>
            <a:off x="9248775" y="33338"/>
            <a:ext cx="2943225" cy="914400"/>
          </a:xfrm>
          <a:prstGeom prst="rect">
            <a:avLst/>
          </a:prstGeom>
          <a:noFill/>
          <a:ln w="9525">
            <a:noFill/>
          </a:ln>
        </p:spPr>
      </p:pic>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9" name="Date Placeholder 4"/>
          <p:cNvSpPr>
            <a:spLocks noGrp="1"/>
          </p:cNvSpPr>
          <p:nvPr>
            <p:ph type="dt" sz="half" idx="1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7D0F70CA-B6FA-4C97-BD3B-6F2981EEF1DF}"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Footer Placeholder 5"/>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Slide Number Placeholder 6"/>
          <p:cNvSpPr>
            <a:spLocks noGrp="1"/>
          </p:cNvSpPr>
          <p:nvPr>
            <p:ph type="sldNum" sz="quarter" idx="4"/>
          </p:nvPr>
        </p:nvSpPr>
        <p:spPr>
          <a:xfrm>
            <a:off x="8610600" y="6356350"/>
            <a:ext cx="2743200" cy="365125"/>
          </a:xfrm>
          <a:prstGeom prst="rect">
            <a:avLst/>
          </a:prstGeom>
        </p:spPr>
        <p:txBody>
          <a:bodyPr vert="horz" lIns="91440" tIns="45720" rIns="91440" bIns="45720" rtlCol="0" anchor="ctr"/>
          <a:p>
            <a:pPr algn="r">
              <a:buNone/>
            </a:pPr>
            <a:fld id="{9A0DB2DC-4C9A-4742-B13C-FB6460FD3503}" type="slidenum">
              <a:rPr lang="en-IN" altLang="en-US" dirty="0"/>
            </a:fld>
            <a:endParaRPr lang="en-I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5123" name="Picture 8"/>
          <p:cNvPicPr>
            <a:picLocks noChangeAspect="1"/>
          </p:cNvPicPr>
          <p:nvPr userDrawn="1"/>
        </p:nvPicPr>
        <p:blipFill>
          <a:blip r:embed="rId2"/>
          <a:stretch>
            <a:fillRect/>
          </a:stretch>
        </p:blipFill>
        <p:spPr>
          <a:xfrm>
            <a:off x="9248775" y="0"/>
            <a:ext cx="2943225" cy="914400"/>
          </a:xfrm>
          <a:prstGeom prst="rect">
            <a:avLst/>
          </a:prstGeom>
          <a:noFill/>
          <a:ln w="9525">
            <a:noFill/>
          </a:ln>
        </p:spPr>
      </p:pic>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9" name="Date Placeholder 6"/>
          <p:cNvSpPr>
            <a:spLocks noGrp="1"/>
          </p:cNvSpPr>
          <p:nvPr>
            <p:ph type="dt" sz="half" idx="1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38A4E63E-75C2-40C8-9F5F-8689570A19E9}"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Footer Placeholder 7"/>
          <p:cNvSpPr>
            <a:spLocks noGrp="1"/>
          </p:cNvSpPr>
          <p:nvPr>
            <p:ph type="ftr" sz="quarter" idx="1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Slide Number Placeholder 8"/>
          <p:cNvSpPr>
            <a:spLocks noGrp="1"/>
          </p:cNvSpPr>
          <p:nvPr>
            <p:ph type="sldNum" sz="quarter" idx="14"/>
          </p:nvPr>
        </p:nvSpPr>
        <p:spPr>
          <a:xfrm>
            <a:off x="8610600" y="6356350"/>
            <a:ext cx="2743200" cy="365125"/>
          </a:xfrm>
          <a:prstGeom prst="rect">
            <a:avLst/>
          </a:prstGeom>
        </p:spPr>
        <p:txBody>
          <a:bodyPr vert="horz" lIns="91440" tIns="45720" rIns="91440" bIns="45720" rtlCol="0" anchor="ctr"/>
          <a:p>
            <a:pPr algn="r">
              <a:buNone/>
            </a:pPr>
            <a:fld id="{9A0DB2DC-4C9A-4742-B13C-FB6460FD3503}" type="slidenum">
              <a:rPr lang="en-IN" altLang="en-US" dirty="0"/>
            </a:fld>
            <a:endParaRPr lang="en-I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147" name="Picture 8"/>
          <p:cNvPicPr>
            <a:picLocks noChangeAspect="1"/>
          </p:cNvPicPr>
          <p:nvPr userDrawn="1"/>
        </p:nvPicPr>
        <p:blipFill>
          <a:blip r:embed="rId2"/>
          <a:stretch>
            <a:fillRect/>
          </a:stretch>
        </p:blipFill>
        <p:spPr>
          <a:xfrm>
            <a:off x="9248775" y="112713"/>
            <a:ext cx="2943225" cy="914400"/>
          </a:xfrm>
          <a:prstGeom prst="rect">
            <a:avLst/>
          </a:prstGeom>
          <a:noFill/>
          <a:ln w="9525">
            <a:noFill/>
          </a:ln>
        </p:spPr>
      </p:pic>
      <p:sp>
        <p:nvSpPr>
          <p:cNvPr id="2" name="Title 1"/>
          <p:cNvSpPr>
            <a:spLocks noGrp="1"/>
          </p:cNvSpPr>
          <p:nvPr>
            <p:ph type="title"/>
          </p:nvPr>
        </p:nvSpPr>
        <p:spPr/>
        <p:txBody>
          <a:bodyPr/>
          <a:lstStyle/>
          <a:p>
            <a:r>
              <a:rPr lang="en-US"/>
              <a:t>Click to edit Master title style</a:t>
            </a:r>
            <a:endParaRPr lang="en-IN"/>
          </a:p>
        </p:txBody>
      </p:sp>
      <p:sp>
        <p:nvSpPr>
          <p:cNvPr id="9" name="Date Placeholder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527C8E34-9B0E-4D80-AF4E-FC2775B0C47C}"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Footer Placeholder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Slide Number Placeholder 4"/>
          <p:cNvSpPr>
            <a:spLocks noGrp="1"/>
          </p:cNvSpPr>
          <p:nvPr>
            <p:ph type="sldNum" sz="quarter" idx="4"/>
          </p:nvPr>
        </p:nvSpPr>
        <p:spPr>
          <a:xfrm>
            <a:off x="8610600" y="6356350"/>
            <a:ext cx="2743200" cy="365125"/>
          </a:xfrm>
          <a:prstGeom prst="rect">
            <a:avLst/>
          </a:prstGeom>
        </p:spPr>
        <p:txBody>
          <a:bodyPr vert="horz" lIns="91440" tIns="45720" rIns="91440" bIns="45720" rtlCol="0" anchor="ctr"/>
          <a:p>
            <a:pPr algn="r">
              <a:buNone/>
            </a:pPr>
            <a:fld id="{9A0DB2DC-4C9A-4742-B13C-FB6460FD3503}" type="slidenum">
              <a:rPr lang="en-IN" altLang="en-US" dirty="0"/>
            </a:fld>
            <a:endParaRPr lang="en-I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171" name="Picture 8"/>
          <p:cNvPicPr>
            <a:picLocks noChangeAspect="1"/>
          </p:cNvPicPr>
          <p:nvPr userDrawn="1"/>
        </p:nvPicPr>
        <p:blipFill>
          <a:blip r:embed="rId2"/>
          <a:stretch>
            <a:fillRect/>
          </a:stretch>
        </p:blipFill>
        <p:spPr>
          <a:xfrm>
            <a:off x="9248775" y="0"/>
            <a:ext cx="2943225" cy="914400"/>
          </a:xfrm>
          <a:prstGeom prst="rect">
            <a:avLst/>
          </a:prstGeom>
          <a:noFill/>
          <a:ln w="9525">
            <a:noFill/>
          </a:ln>
        </p:spPr>
      </p:pic>
      <p:sp>
        <p:nvSpPr>
          <p:cNvPr id="9" name="Date Placeholder 1"/>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A3384B97-32A8-4F64-A852-38FD8B594949}"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Footer Placeholder 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Slide Number Placeholder 3"/>
          <p:cNvSpPr>
            <a:spLocks noGrp="1"/>
          </p:cNvSpPr>
          <p:nvPr>
            <p:ph type="sldNum" sz="quarter" idx="4"/>
          </p:nvPr>
        </p:nvSpPr>
        <p:spPr>
          <a:xfrm>
            <a:off x="8610600" y="6356350"/>
            <a:ext cx="2743200" cy="365125"/>
          </a:xfrm>
          <a:prstGeom prst="rect">
            <a:avLst/>
          </a:prstGeom>
        </p:spPr>
        <p:txBody>
          <a:bodyPr vert="horz" lIns="91440" tIns="45720" rIns="91440" bIns="45720" rtlCol="0" anchor="ctr"/>
          <a:p>
            <a:pPr algn="r">
              <a:buNone/>
            </a:pPr>
            <a:fld id="{9A0DB2DC-4C9A-4742-B13C-FB6460FD3503}" type="slidenum">
              <a:rPr lang="en-IN" altLang="en-US" dirty="0"/>
            </a:fld>
            <a:endParaRPr lang="en-I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195" name="Picture 8"/>
          <p:cNvPicPr>
            <a:picLocks noChangeAspect="1"/>
          </p:cNvPicPr>
          <p:nvPr userDrawn="1"/>
        </p:nvPicPr>
        <p:blipFill>
          <a:blip r:embed="rId2"/>
          <a:stretch>
            <a:fillRect/>
          </a:stretch>
        </p:blipFill>
        <p:spPr>
          <a:xfrm>
            <a:off x="9248775" y="34925"/>
            <a:ext cx="2943225" cy="914400"/>
          </a:xfrm>
          <a:prstGeom prst="rect">
            <a:avLst/>
          </a:prstGeom>
          <a:noFill/>
          <a:ln w="9525">
            <a:noFill/>
          </a:ln>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9" name="Date Placeholder 4"/>
          <p:cNvSpPr>
            <a:spLocks noGrp="1"/>
          </p:cNvSpPr>
          <p:nvPr>
            <p:ph type="dt" sz="half" idx="1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DE5B4A92-2675-4FAC-8896-903787A8670C}"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Footer Placeholder 5"/>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Slide Number Placeholder 6"/>
          <p:cNvSpPr>
            <a:spLocks noGrp="1"/>
          </p:cNvSpPr>
          <p:nvPr>
            <p:ph type="sldNum" sz="quarter" idx="4"/>
          </p:nvPr>
        </p:nvSpPr>
        <p:spPr>
          <a:xfrm>
            <a:off x="8610600" y="6356350"/>
            <a:ext cx="2743200" cy="365125"/>
          </a:xfrm>
          <a:prstGeom prst="rect">
            <a:avLst/>
          </a:prstGeom>
        </p:spPr>
        <p:txBody>
          <a:bodyPr vert="horz" lIns="91440" tIns="45720" rIns="91440" bIns="45720" rtlCol="0" anchor="ctr"/>
          <a:p>
            <a:pPr algn="r">
              <a:buNone/>
            </a:pPr>
            <a:fld id="{9A0DB2DC-4C9A-4742-B13C-FB6460FD3503}" type="slidenum">
              <a:rPr lang="en-IN" altLang="en-US" dirty="0"/>
            </a:fld>
            <a:endParaRPr lang="en-I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219" name="Picture 8"/>
          <p:cNvPicPr>
            <a:picLocks noChangeAspect="1"/>
          </p:cNvPicPr>
          <p:nvPr userDrawn="1"/>
        </p:nvPicPr>
        <p:blipFill>
          <a:blip r:embed="rId2"/>
          <a:stretch>
            <a:fillRect/>
          </a:stretch>
        </p:blipFill>
        <p:spPr>
          <a:xfrm>
            <a:off x="9248775" y="0"/>
            <a:ext cx="2943225" cy="914400"/>
          </a:xfrm>
          <a:prstGeom prst="rect">
            <a:avLst/>
          </a:prstGeom>
          <a:noFill/>
          <a:ln w="9525">
            <a:noFill/>
          </a:ln>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9" name="Date Placeholder 4"/>
          <p:cNvSpPr>
            <a:spLocks noGrp="1"/>
          </p:cNvSpPr>
          <p:nvPr>
            <p:ph type="dt" sz="half" idx="1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C7B92818-D6D7-4D73-B67B-08242A760075}"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Footer Placeholder 5"/>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Slide Number Placeholder 6"/>
          <p:cNvSpPr>
            <a:spLocks noGrp="1"/>
          </p:cNvSpPr>
          <p:nvPr>
            <p:ph type="sldNum" sz="quarter" idx="4"/>
          </p:nvPr>
        </p:nvSpPr>
        <p:spPr>
          <a:xfrm>
            <a:off x="8610600" y="6356350"/>
            <a:ext cx="2743200" cy="365125"/>
          </a:xfrm>
          <a:prstGeom prst="rect">
            <a:avLst/>
          </a:prstGeom>
        </p:spPr>
        <p:txBody>
          <a:bodyPr vert="horz" lIns="91440" tIns="45720" rIns="91440" bIns="45720" rtlCol="0" anchor="ctr"/>
          <a:p>
            <a:pPr algn="r">
              <a:buNone/>
            </a:pPr>
            <a:fld id="{9A0DB2DC-4C9A-4742-B13C-FB6460FD3503}" type="slidenum">
              <a:rPr lang="en-IN" altLang="en-US" dirty="0"/>
            </a:fld>
            <a:endParaRPr lang="en-I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6387C82C-4646-4C8A-913E-C3394876366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latin typeface="Calibri" pitchFamily="34" charset="0"/>
              </a:rPr>
            </a:fld>
            <a:endParaRPr lang="en-IN" altLang="en-US" dirty="0">
              <a:latin typeface="Calibri"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6387C82C-4646-4C8A-913E-C3394876366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latin typeface="Calibri" pitchFamily="34" charset="0"/>
              </a:rPr>
            </a:fld>
            <a:endParaRPr lang="en-IN" altLang="en-US" dirty="0">
              <a:latin typeface="Calibri"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p>
            <a:pPr lvl="0"/>
            <a:r>
              <a:rPr dirty="0"/>
              <a:t>Click to edit Master title style</a:t>
            </a:r>
            <a:endParaRPr lang="en-IN" altLang="x-none" dirty="0"/>
          </a:p>
        </p:txBody>
      </p:sp>
      <p:sp>
        <p:nvSpPr>
          <p:cNvPr id="1027" name="Text Placeholder 2"/>
          <p:cNvSpPr>
            <a:spLocks noGrp="1"/>
          </p:cNvSpPr>
          <p:nvPr>
            <p:ph type="body" idx="1"/>
          </p:nvPr>
        </p:nvSpPr>
        <p:spPr>
          <a:xfrm>
            <a:off x="838200" y="1825625"/>
            <a:ext cx="10515600" cy="4351338"/>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lang="en-IN" altLang="x-none"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387C82C-4646-4C8A-913E-C3394876366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en-IN" altLang="en-US" dirty="0">
                <a:latin typeface="Calibri" pitchFamily="34" charset="0"/>
              </a:rPr>
            </a:fld>
            <a:endParaRPr lang="en-IN" altLang="en-US" dirty="0">
              <a:latin typeface="Calibri" pitchFamily="34" charset="0"/>
            </a:endParaRPr>
          </a:p>
        </p:txBody>
      </p:sp>
      <p:pic>
        <p:nvPicPr>
          <p:cNvPr id="1031" name="Picture 6"/>
          <p:cNvPicPr>
            <a:picLocks noChangeAspect="1"/>
          </p:cNvPicPr>
          <p:nvPr userDrawn="1"/>
        </p:nvPicPr>
        <p:blipFill>
          <a:blip r:embed="rId12"/>
          <a:stretch>
            <a:fillRect/>
          </a:stretch>
        </p:blipFill>
        <p:spPr>
          <a:xfrm>
            <a:off x="9248775" y="0"/>
            <a:ext cx="2943225" cy="9144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9" name="TextBox 7"/>
          <p:cNvSpPr txBox="1"/>
          <p:nvPr/>
        </p:nvSpPr>
        <p:spPr>
          <a:xfrm>
            <a:off x="3657600" y="6426200"/>
            <a:ext cx="5233988" cy="398780"/>
          </a:xfrm>
          <a:prstGeom prst="rect">
            <a:avLst/>
          </a:prstGeom>
          <a:noFill/>
          <a:ln w="9525">
            <a:noFill/>
          </a:ln>
        </p:spPr>
        <p:txBody>
          <a:bodyPr>
            <a:sp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algn="ctr">
              <a:lnSpc>
                <a:spcPct val="100000"/>
              </a:lnSpc>
              <a:spcBef>
                <a:spcPct val="0"/>
              </a:spcBef>
              <a:buFontTx/>
              <a:buNone/>
            </a:pPr>
            <a:r>
              <a:rPr lang="en-US" altLang="en-US" sz="2000" b="1" dirty="0"/>
              <a:t> Project Presentation, 2025</a:t>
            </a:r>
            <a:endParaRPr lang="en-IN" altLang="en-US" sz="2000" b="1" dirty="0"/>
          </a:p>
        </p:txBody>
      </p:sp>
      <p:sp>
        <p:nvSpPr>
          <p:cNvPr id="5" name="Subtitle 4"/>
          <p:cNvSpPr>
            <a:spLocks noGrp="1"/>
          </p:cNvSpPr>
          <p:nvPr>
            <p:ph type="subTitle" idx="1"/>
          </p:nvPr>
        </p:nvSpPr>
        <p:spPr>
          <a:xfrm>
            <a:off x="396875" y="3429000"/>
            <a:ext cx="5659438" cy="2066925"/>
          </a:xfrm>
        </p:spPr>
        <p:txBody>
          <a:bodyPr vert="horz" wrap="square" lIns="91440" tIns="45720" rIns="91440" bIns="45720" numCol="1" rtlCol="0" anchor="t" anchorCtr="0" compatLnSpc="1">
            <a:normAutofit fontScale="80000"/>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sz="2400" b="1" i="0" u="sng" strike="noStrike" kern="1200" cap="none" spc="0" normalizeH="0" baseline="0" noProof="0" dirty="0">
                <a:ln>
                  <a:noFill/>
                </a:ln>
                <a:solidFill>
                  <a:schemeClr val="tx1"/>
                </a:solidFill>
                <a:effectLst/>
                <a:uLnTx/>
                <a:uFillTx/>
                <a:latin typeface="+mn-lt"/>
                <a:ea typeface="+mn-ea"/>
                <a:cs typeface="+mn-cs"/>
              </a:rPr>
              <a:t>Presented By: </a:t>
            </a:r>
            <a:endParaRPr kumimoji="0" lang="en-US" sz="24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Bachina Mahesh Babu (2203031240094)</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Bonika Charan Teja (</a:t>
            </a:r>
            <a:r>
              <a:rPr lang="en-US" noProof="0" dirty="0">
                <a:ln>
                  <a:noFill/>
                </a:ln>
                <a:effectLst/>
                <a:uLnTx/>
                <a:uFillTx/>
                <a:sym typeface="+mn-ea"/>
              </a:rPr>
              <a:t>2203031240205</a:t>
            </a:r>
            <a:r>
              <a:rPr kumimoji="0" lang="en-US" sz="2400" b="0" i="0" u="none" strike="noStrike" kern="1200" cap="none" spc="0" normalizeH="0" baseline="0" noProof="0" dirty="0">
                <a:ln>
                  <a:noFill/>
                </a:ln>
                <a:solidFill>
                  <a:schemeClr val="tx1"/>
                </a:solidFill>
                <a:effectLst/>
                <a:uLnTx/>
                <a:uFillTx/>
                <a:latin typeface="+mn-lt"/>
                <a:ea typeface="+mn-ea"/>
                <a:cs typeface="+mn-cs"/>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Bhargavi Chitti (</a:t>
            </a:r>
            <a:r>
              <a:rPr lang="en-US" noProof="0" dirty="0">
                <a:ln>
                  <a:noFill/>
                </a:ln>
                <a:effectLst/>
                <a:uLnTx/>
                <a:uFillTx/>
                <a:sym typeface="+mn-ea"/>
              </a:rPr>
              <a:t>2203031240161</a:t>
            </a:r>
            <a:r>
              <a:rPr kumimoji="0" lang="en-US" sz="2400" b="0" i="0" u="none" strike="noStrike" kern="1200" cap="none" spc="0" normalizeH="0" baseline="0" noProof="0" dirty="0">
                <a:ln>
                  <a:noFill/>
                </a:ln>
                <a:solidFill>
                  <a:schemeClr val="tx1"/>
                </a:solidFill>
                <a:effectLst/>
                <a:uLnTx/>
                <a:uFillTx/>
                <a:latin typeface="+mn-lt"/>
                <a:ea typeface="+mn-ea"/>
                <a:cs typeface="+mn-cs"/>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en-US" noProof="0" dirty="0">
                <a:ln>
                  <a:noFill/>
                </a:ln>
                <a:effectLst/>
                <a:uLnTx/>
                <a:uFillTx/>
                <a:sym typeface="+mn-ea"/>
              </a:rPr>
              <a:t>Bollapu Manogna</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lang="en-US" noProof="0" dirty="0">
                <a:ln>
                  <a:noFill/>
                </a:ln>
                <a:effectLst/>
                <a:uLnTx/>
                <a:uFillTx/>
                <a:sym typeface="+mn-ea"/>
              </a:rPr>
              <a:t>2203031240193</a:t>
            </a:r>
            <a:r>
              <a:rPr kumimoji="0" lang="en-US" sz="2400" b="0" i="0" u="none" strike="noStrike" kern="1200" cap="none" spc="0" normalizeH="0" baseline="0" noProof="0" dirty="0">
                <a:ln>
                  <a:noFill/>
                </a:ln>
                <a:solidFill>
                  <a:schemeClr val="tx1"/>
                </a:solidFill>
                <a:effectLst/>
                <a:uLnTx/>
                <a:uFillTx/>
                <a:latin typeface="+mn-lt"/>
                <a:ea typeface="+mn-ea"/>
                <a:cs typeface="+mn-cs"/>
              </a:rPr>
              <a:t>)</a:t>
            </a:r>
            <a:endParaRPr kumimoji="0" lang="en-I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I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IN"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Subtitle 2"/>
          <p:cNvSpPr txBox="1"/>
          <p:nvPr/>
        </p:nvSpPr>
        <p:spPr>
          <a:xfrm>
            <a:off x="6878638" y="3378200"/>
            <a:ext cx="4916488" cy="2168525"/>
          </a:xfrm>
          <a:prstGeom prst="rect">
            <a:avLst/>
          </a:prstGeom>
        </p:spPr>
        <p:txBody>
          <a:bodyPr>
            <a:normAutofit fontScale="25000" lnSpcReduction="20000"/>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1000"/>
              </a:spcBef>
              <a:spcAft>
                <a:spcPts val="0"/>
              </a:spcAft>
              <a:buClrTx/>
              <a:buSzTx/>
              <a:buFont typeface="Arial" panose="020B0604020202090204" pitchFamily="34" charset="0"/>
              <a:buNone/>
              <a:defRPr/>
            </a:pPr>
            <a:r>
              <a:rPr kumimoji="0" lang="en-US" sz="9600" b="1" i="0" u="sng" strike="noStrike" kern="1200" cap="none" spc="0" normalizeH="0" baseline="0" noProof="0" dirty="0">
                <a:ln>
                  <a:noFill/>
                </a:ln>
                <a:solidFill>
                  <a:schemeClr val="tx1"/>
                </a:solidFill>
                <a:effectLst/>
                <a:uLnTx/>
                <a:uFillTx/>
                <a:latin typeface="+mn-lt"/>
                <a:ea typeface="+mn-ea"/>
                <a:cs typeface="+mn-cs"/>
              </a:rPr>
              <a:t>Guided By:</a:t>
            </a:r>
            <a:endParaRPr kumimoji="0" lang="en-US" sz="96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10000"/>
              </a:lnSpc>
              <a:spcBef>
                <a:spcPts val="1000"/>
              </a:spcBef>
              <a:spcAft>
                <a:spcPts val="0"/>
              </a:spcAft>
              <a:buClrTx/>
              <a:buSzTx/>
              <a:buFont typeface="Arial" panose="020B0604020202090204" pitchFamily="34" charset="0"/>
              <a:buNone/>
              <a:defRPr/>
            </a:pPr>
            <a:r>
              <a:rPr kumimoji="0" lang="en-US" sz="9600" b="0" i="0" u="none" strike="noStrike" kern="1200" cap="none" spc="0" normalizeH="0" baseline="0" noProof="0" dirty="0">
                <a:ln>
                  <a:noFill/>
                </a:ln>
                <a:solidFill>
                  <a:schemeClr val="tx1"/>
                </a:solidFill>
                <a:effectLst/>
                <a:uLnTx/>
                <a:uFillTx/>
                <a:latin typeface="+mn-lt"/>
                <a:ea typeface="+mn-ea"/>
                <a:cs typeface="+mn-cs"/>
              </a:rPr>
              <a:t>Sandeep Wadekar</a:t>
            </a: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10000"/>
              </a:lnSpc>
              <a:spcBef>
                <a:spcPts val="1000"/>
              </a:spcBef>
              <a:spcAft>
                <a:spcPts val="0"/>
              </a:spcAft>
              <a:buClrTx/>
              <a:buSzTx/>
              <a:buFont typeface="Arial" panose="020B0604020202090204" pitchFamily="34" charset="0"/>
              <a:buNone/>
              <a:defRPr/>
            </a:pPr>
            <a:r>
              <a:rPr kumimoji="0" lang="en-US" altLang="en-US" sz="9600" b="0" i="0" u="none" strike="noStrike" kern="1200" cap="none" spc="0" normalizeH="0" baseline="0" noProof="0" dirty="0">
                <a:ln>
                  <a:noFill/>
                </a:ln>
                <a:solidFill>
                  <a:schemeClr val="tx1"/>
                </a:solidFill>
                <a:effectLst/>
                <a:uLnTx/>
                <a:uFillTx/>
                <a:latin typeface="+mn-lt"/>
                <a:ea typeface="+mn-ea"/>
                <a:cs typeface="+mn-cs"/>
              </a:rPr>
              <a:t>Assistant professor</a:t>
            </a:r>
            <a:endParaRPr kumimoji="0" lang="en-US" altLang="en-US" sz="9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10000"/>
              </a:lnSpc>
              <a:spcBef>
                <a:spcPts val="1000"/>
              </a:spcBef>
              <a:spcAft>
                <a:spcPts val="0"/>
              </a:spcAft>
              <a:buClrTx/>
              <a:buSzTx/>
              <a:buFont typeface="Arial" panose="020B0604020202090204" pitchFamily="34" charset="0"/>
              <a:buNone/>
              <a:defRPr/>
            </a:pPr>
            <a:r>
              <a:rPr kumimoji="0" lang="en-US" sz="9600" b="0" i="0" u="none" strike="noStrike" kern="1200" cap="none" spc="0" normalizeH="0" baseline="0" noProof="0" dirty="0">
                <a:ln>
                  <a:noFill/>
                </a:ln>
                <a:solidFill>
                  <a:schemeClr val="tx1"/>
                </a:solidFill>
                <a:effectLst/>
                <a:uLnTx/>
                <a:uFillTx/>
                <a:latin typeface="+mn-lt"/>
                <a:ea typeface="+mn-ea"/>
                <a:cs typeface="+mn-cs"/>
              </a:rPr>
              <a:t>AI &amp; AIDS Department</a:t>
            </a: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10000"/>
              </a:lnSpc>
              <a:spcBef>
                <a:spcPts val="1000"/>
              </a:spcBef>
              <a:spcAft>
                <a:spcPts val="0"/>
              </a:spcAft>
              <a:buClrTx/>
              <a:buSzTx/>
              <a:buFont typeface="Arial" panose="020B0604020202090204" pitchFamily="34" charset="0"/>
              <a:buNone/>
              <a:defRPr/>
            </a:pPr>
            <a:r>
              <a:rPr kumimoji="0" lang="en-US" sz="9600" b="0" i="0" u="none" strike="noStrike" kern="1200" cap="none" spc="0" normalizeH="0" baseline="0" noProof="0" dirty="0">
                <a:ln>
                  <a:noFill/>
                </a:ln>
                <a:solidFill>
                  <a:schemeClr val="tx1"/>
                </a:solidFill>
                <a:effectLst/>
                <a:uLnTx/>
                <a:uFillTx/>
                <a:latin typeface="+mn-lt"/>
                <a:ea typeface="+mn-ea"/>
                <a:cs typeface="+mn-cs"/>
              </a:rPr>
              <a:t>PIET, Parul University</a:t>
            </a: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10000"/>
              </a:lnSpc>
              <a:spcBef>
                <a:spcPts val="1000"/>
              </a:spcBef>
              <a:spcAft>
                <a:spcPts val="0"/>
              </a:spcAft>
              <a:buClrTx/>
              <a:buSzTx/>
              <a:buFont typeface="Arial" panose="020B0604020202090204" pitchFamily="34" charset="0"/>
              <a:buNone/>
              <a:defRPr/>
            </a:pPr>
            <a:r>
              <a:rPr kumimoji="0" lang="en-US" sz="9600" b="0" i="0" u="none" strike="noStrike" kern="1200" cap="none" spc="0" normalizeH="0" baseline="0" noProof="0" dirty="0">
                <a:ln>
                  <a:noFill/>
                </a:ln>
                <a:solidFill>
                  <a:schemeClr val="tx1"/>
                </a:solidFill>
                <a:effectLst/>
                <a:uLnTx/>
                <a:uFillTx/>
                <a:latin typeface="+mn-lt"/>
                <a:ea typeface="+mn-ea"/>
                <a:cs typeface="+mn-cs"/>
              </a:rPr>
              <a:t> </a:t>
            </a: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I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IN"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itle 1"/>
          <p:cNvSpPr>
            <a:spLocks noGrp="1"/>
          </p:cNvSpPr>
          <p:nvPr>
            <p:ph type="ctrTitle"/>
          </p:nvPr>
        </p:nvSpPr>
        <p:spPr>
          <a:xfrm>
            <a:off x="1841500" y="1557338"/>
            <a:ext cx="9144000" cy="992187"/>
          </a:xfrm>
        </p:spPr>
        <p:txBody>
          <a:bodyPr vert="horz" wrap="square" lIns="91440" tIns="45720" rIns="91440" bIns="45720" anchor="b" anchorCtr="0"/>
          <a:p>
            <a:pPr eaLnBrk="1" hangingPunct="1">
              <a:buClrTx/>
              <a:buSzTx/>
              <a:buFontTx/>
            </a:pPr>
            <a:r>
              <a:rPr lang="en-US" altLang="en-US" kern="1200" dirty="0">
                <a:latin typeface="+mj-lt"/>
                <a:ea typeface="+mj-ea"/>
                <a:cs typeface="+mj-cs"/>
              </a:rPr>
              <a:t>Smart Way Sorter</a:t>
            </a:r>
            <a:endParaRPr lang="en-IN" altLang="en-US" kern="1200" dirty="0">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a:xfrm>
            <a:off x="838200" y="-84137"/>
            <a:ext cx="10515600" cy="1325562"/>
          </a:xfrm>
        </p:spPr>
        <p:txBody>
          <a:bodyPr vert="horz" wrap="square" lIns="91440" tIns="45720" rIns="91440" bIns="45720" anchor="ctr" anchorCtr="0"/>
          <a:p>
            <a:r>
              <a:rPr lang="en-US" altLang="en-US" sz="3500" b="1" dirty="0"/>
              <a:t>Content:</a:t>
            </a:r>
            <a:endParaRPr lang="en-IN" altLang="en-US" sz="3500" b="1" dirty="0"/>
          </a:p>
        </p:txBody>
      </p:sp>
      <p:sp>
        <p:nvSpPr>
          <p:cNvPr id="3" name="Content Placeholder 2"/>
          <p:cNvSpPr>
            <a:spLocks noGrp="1"/>
          </p:cNvSpPr>
          <p:nvPr>
            <p:ph idx="1"/>
          </p:nvPr>
        </p:nvSpPr>
        <p:spPr>
          <a:xfrm>
            <a:off x="966788" y="992188"/>
            <a:ext cx="10387013" cy="5184775"/>
          </a:xfrm>
        </p:spPr>
        <p:txBody>
          <a:bodyPr vert="horz" lIns="91440" tIns="45720" rIns="91440" bIns="45720" rtlCol="0">
            <a:normAutofit fontScale="85000" lnSpcReduction="2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Introduction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Problem Statement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Flow chart of the system</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Analysis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Functional Requirements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Use Case Diagrams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Non-functional requirements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Design: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UML diagrams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Class Diagram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kumimoji="0" lang="en-US" sz="2000" b="0" i="0" u="none" strike="noStrike" kern="1200" cap="none" spc="0" normalizeH="0" baseline="0" noProof="0" dirty="0">
                <a:ln>
                  <a:noFill/>
                </a:ln>
                <a:solidFill>
                  <a:schemeClr val="tx1"/>
                </a:solidFill>
                <a:effectLst/>
                <a:uLnTx/>
                <a:uFillTx/>
                <a:latin typeface="+mn-lt"/>
                <a:ea typeface="+mn-ea"/>
                <a:cs typeface="+mn-cs"/>
              </a:rPr>
              <a:t>Sequence Diagram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kumimoji="0" lang="en-US" sz="2000" b="0" i="0" u="none" strike="noStrike" kern="1200" cap="none" spc="0" normalizeH="0" baseline="0" noProof="0" dirty="0">
                <a:ln>
                  <a:noFill/>
                </a:ln>
                <a:solidFill>
                  <a:schemeClr val="tx1"/>
                </a:solidFill>
                <a:effectLst/>
                <a:uLnTx/>
                <a:uFillTx/>
                <a:latin typeface="+mn-lt"/>
                <a:ea typeface="+mn-ea"/>
                <a:cs typeface="+mn-cs"/>
              </a:rPr>
              <a:t>Activity Diagram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Conclusion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Future Work</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References</a:t>
            </a:r>
            <a:endParaRPr kumimoji="0" lang="en-IN"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2292"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sz="1200" dirty="0"/>
              <a:t>02/04/2025</a:t>
            </a:r>
            <a:endParaRPr lang="en-US" altLang="en-IN" sz="1200" dirty="0"/>
          </a:p>
        </p:txBody>
      </p:sp>
      <p:sp>
        <p:nvSpPr>
          <p:cNvPr id="12293"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sz="1200" dirty="0"/>
              <a:t>Project Presentation 2025</a:t>
            </a:r>
            <a:endParaRPr lang="en-IN" altLang="en-US" sz="1200" dirty="0"/>
          </a:p>
        </p:txBody>
      </p:sp>
      <p:sp>
        <p:nvSpPr>
          <p:cNvPr id="12294"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a:xfrm>
            <a:off x="568325" y="363538"/>
            <a:ext cx="10515600" cy="1325562"/>
          </a:xfrm>
        </p:spPr>
        <p:txBody>
          <a:bodyPr vert="horz" wrap="square" lIns="91440" tIns="45720" rIns="91440" bIns="45720" anchor="ctr" anchorCtr="0"/>
          <a:p>
            <a:r>
              <a:rPr lang="en-US" altLang="en-US" sz="3500" b="1" dirty="0"/>
              <a:t>INTRODUCTION:</a:t>
            </a:r>
            <a:endParaRPr lang="en-IN" altLang="en-US" sz="3500" b="1" dirty="0"/>
          </a:p>
        </p:txBody>
      </p:sp>
      <p:sp>
        <p:nvSpPr>
          <p:cNvPr id="13315" name="Content Placeholder 2"/>
          <p:cNvSpPr>
            <a:spLocks noGrp="1"/>
          </p:cNvSpPr>
          <p:nvPr>
            <p:ph idx="1"/>
          </p:nvPr>
        </p:nvSpPr>
        <p:spPr>
          <a:xfrm>
            <a:off x="838200" y="1516380"/>
            <a:ext cx="10152380" cy="4351655"/>
          </a:xfrm>
        </p:spPr>
        <p:txBody>
          <a:bodyPr vert="horz" lIns="91440" tIns="45720" rIns="91440" bIns="45720" rtlCol="0">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en-US" sz="2000" b="0" i="0" u="none" strike="noStrik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rPr>
              <a:t>The Smart Waste Sorter is an innovative web application designed to simplify waste sorting for users. Utilizing advanced image recognition technology, the app allows users to upload or capture photos of their waste. It then classifies the waste into one of eight categories: Light Bulbs, Paper, Plastic, Organic, Glass, Clothes, Metal, and E-Waste. Once identified, the app provides detailed recycling or disposal instructions, empowering users to make environmentally responsible decisions. Beyond just sorting waste, the Smart Waste Sorter also aims to raise awareness about the importance of responsible waste management and sustainability. By promoting eco-friendly habits, the app encourages users to reduce their environmental impact. The Smart Waste Sorter is a simple yet effective tool that contributes to a cleaner, greener world, making it easier for everyone to participate in waste management.</a:t>
            </a:r>
            <a:endParaRPr kumimoji="0" lang="en-US" altLang="en-US" sz="2000" b="0" i="0" u="none" strike="noStrik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endParaRPr>
          </a:p>
        </p:txBody>
      </p:sp>
      <p:sp>
        <p:nvSpPr>
          <p:cNvPr id="13316"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dirty="0">
                <a:sym typeface="+mn-ea"/>
              </a:rPr>
              <a:t>02/04/2025</a:t>
            </a:r>
            <a:endParaRPr lang="en-US" altLang="en-IN" dirty="0"/>
          </a:p>
          <a:p>
            <a:pPr marL="0" indent="0">
              <a:lnSpc>
                <a:spcPct val="100000"/>
              </a:lnSpc>
              <a:spcBef>
                <a:spcPct val="0"/>
              </a:spcBef>
              <a:buFontTx/>
              <a:buNone/>
            </a:pPr>
            <a:endParaRPr lang="en-IN" altLang="en-US" sz="1200" dirty="0"/>
          </a:p>
        </p:txBody>
      </p:sp>
      <p:sp>
        <p:nvSpPr>
          <p:cNvPr id="13317"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dirty="0">
                <a:sym typeface="+mn-ea"/>
              </a:rPr>
              <a:t>Project Presentation 2025</a:t>
            </a:r>
            <a:endParaRPr lang="en-IN" altLang="en-US" sz="1200" dirty="0"/>
          </a:p>
        </p:txBody>
      </p:sp>
      <p:sp>
        <p:nvSpPr>
          <p:cNvPr id="13318"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xfrm>
            <a:off x="263525" y="365125"/>
            <a:ext cx="10175875" cy="1039813"/>
          </a:xfrm>
        </p:spPr>
        <p:txBody>
          <a:bodyPr vert="horz" wrap="square" lIns="91440" tIns="45720" rIns="91440" bIns="45720" anchor="ctr" anchorCtr="0"/>
          <a:p>
            <a:r>
              <a:rPr lang="en-US" altLang="en-US" sz="3500" b="1" dirty="0"/>
              <a:t>Problem Statement:</a:t>
            </a:r>
            <a:endParaRPr lang="en-IN" altLang="en-US" sz="3500" b="1" dirty="0"/>
          </a:p>
        </p:txBody>
      </p:sp>
      <p:sp>
        <p:nvSpPr>
          <p:cNvPr id="14339" name="Content Placeholder 2"/>
          <p:cNvSpPr>
            <a:spLocks noGrp="1"/>
          </p:cNvSpPr>
          <p:nvPr>
            <p:ph idx="1"/>
          </p:nvPr>
        </p:nvSpPr>
        <p:spPr>
          <a:xfrm>
            <a:off x="473075" y="1539875"/>
            <a:ext cx="11530330" cy="1089025"/>
          </a:xfrm>
        </p:spPr>
        <p:txBody>
          <a:bodyPr vert="horz" lIns="91440" tIns="45720" rIns="91440" bIns="45720" rtlCol="0">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en-US" b="0" i="0" u="non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rPr>
              <a:t>The Smart Waste Sorter is a web application that uses image recognition to classify and provide disposal instructions for various types of waste, promoting sustainability.</a:t>
            </a:r>
            <a:endParaRPr kumimoji="0" lang="en-US" altLang="en-US" b="0" i="0" u="non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endParaRPr>
          </a:p>
        </p:txBody>
      </p:sp>
      <p:sp>
        <p:nvSpPr>
          <p:cNvPr id="14340"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dirty="0">
                <a:sym typeface="+mn-ea"/>
              </a:rPr>
              <a:t>02/04/2025</a:t>
            </a:r>
            <a:endParaRPr lang="en-IN" altLang="en-US" sz="1200" dirty="0"/>
          </a:p>
        </p:txBody>
      </p:sp>
      <p:sp>
        <p:nvSpPr>
          <p:cNvPr id="14341"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dirty="0">
                <a:sym typeface="+mn-ea"/>
              </a:rPr>
              <a:t>Project Presentation 2025</a:t>
            </a:r>
            <a:endParaRPr lang="en-IN" altLang="en-US" sz="1200" dirty="0"/>
          </a:p>
        </p:txBody>
      </p:sp>
      <p:sp>
        <p:nvSpPr>
          <p:cNvPr id="14342"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sp>
        <p:nvSpPr>
          <p:cNvPr id="3" name="Text 1"/>
          <p:cNvSpPr/>
          <p:nvPr/>
        </p:nvSpPr>
        <p:spPr>
          <a:xfrm>
            <a:off x="367030" y="3025775"/>
            <a:ext cx="11636375" cy="938530"/>
          </a:xfrm>
          <a:prstGeom prst="rect">
            <a:avLst/>
          </a:prstGeom>
          <a:noFill/>
        </p:spPr>
        <p:txBody>
          <a:bodyPr wrap="squar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defRPr/>
            </a:pPr>
            <a:r>
              <a:rPr kumimoji="0" lang="en-US" altLang="en-US" sz="2000" b="1" i="0" u="none" strike="noStrike" kern="1200" cap="none" spc="0" normalizeH="0" baseline="0" noProof="0" dirty="0">
                <a:ln>
                  <a:noFill/>
                </a:ln>
                <a:solidFill>
                  <a:schemeClr val="tx1"/>
                </a:solidFill>
                <a:effectLst/>
                <a:uLnTx/>
                <a:uFillTx/>
                <a:latin typeface="Times New Roman Bold" panose="02020503050405090304" charset="0"/>
                <a:ea typeface="+mn-ea"/>
                <a:cs typeface="Times New Roman Bold" panose="02020503050405090304" charset="0"/>
              </a:rPr>
              <a:t>Image Recognition:-</a:t>
            </a:r>
            <a:r>
              <a:rPr kumimoji="0" lang="en-US" altLang="en-US" sz="2000" b="0" i="0" u="none" strike="noStrik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rPr>
              <a:t>The app uses advanced image recognition technology to classify waste into one of eight categories by analyzing uploaded or captured photos.</a:t>
            </a:r>
            <a:endParaRPr kumimoji="0" lang="en-US" sz="2000" b="0" i="0" u="none" strike="noStrik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endParaRPr>
          </a:p>
        </p:txBody>
      </p:sp>
      <p:sp>
        <p:nvSpPr>
          <p:cNvPr id="5" name="Text 1"/>
          <p:cNvSpPr/>
          <p:nvPr/>
        </p:nvSpPr>
        <p:spPr>
          <a:xfrm>
            <a:off x="367030" y="3855085"/>
            <a:ext cx="11409680" cy="938530"/>
          </a:xfrm>
          <a:prstGeom prst="rect">
            <a:avLst/>
          </a:prstGeom>
          <a:noFill/>
        </p:spPr>
        <p:txBody>
          <a:bodyPr wrap="square" lIns="0" tIns="0" rIns="0" bIns="0" rtlCol="0" anchor="t"/>
          <a:p>
            <a:pPr marL="0" marR="0" lvl="0" indent="0" algn="l" defTabSz="914400" rtl="0" eaLnBrk="1" fontAlgn="auto" latinLnBrk="0" hangingPunct="1">
              <a:lnSpc>
                <a:spcPts val="2850"/>
              </a:lnSpc>
              <a:spcBef>
                <a:spcPts val="0"/>
              </a:spcBef>
              <a:spcAft>
                <a:spcPts val="0"/>
              </a:spcAft>
              <a:buClrTx/>
              <a:buSzTx/>
              <a:buFontTx/>
              <a:buNone/>
              <a:defRPr/>
            </a:pPr>
            <a:r>
              <a:rPr kumimoji="0" lang="en-US" altLang="en-US" sz="2000" b="1" i="0" u="none" strike="noStrike" kern="1200" cap="none" spc="0" normalizeH="0" baseline="0" noProof="0" dirty="0">
                <a:ln>
                  <a:noFill/>
                </a:ln>
                <a:solidFill>
                  <a:schemeClr val="tx1"/>
                </a:solidFill>
                <a:effectLst/>
                <a:uLnTx/>
                <a:uFillTx/>
                <a:latin typeface="Times New Roman Bold" panose="02020503050405090304" charset="0"/>
                <a:ea typeface="+mn-ea"/>
                <a:cs typeface="Times New Roman Bold" panose="02020503050405090304" charset="0"/>
              </a:rPr>
              <a:t>Recycling and Disposal Instructions:-</a:t>
            </a:r>
            <a:r>
              <a:rPr kumimoji="0" lang="en-US" altLang="en-US" sz="2000" b="0" i="0" u="none" strike="noStrik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rPr>
              <a:t>After classifying the waste, the app provides detailed instructions on how to properly recycle or dispose of the material.</a:t>
            </a:r>
            <a:endParaRPr kumimoji="0" lang="en-US" altLang="en-US" sz="2000" b="0" i="0" u="none" strike="noStrik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endParaRPr>
          </a:p>
        </p:txBody>
      </p:sp>
      <p:sp>
        <p:nvSpPr>
          <p:cNvPr id="6" name="Text 1"/>
          <p:cNvSpPr/>
          <p:nvPr/>
        </p:nvSpPr>
        <p:spPr>
          <a:xfrm>
            <a:off x="367030" y="4793615"/>
            <a:ext cx="11530330" cy="938530"/>
          </a:xfrm>
          <a:prstGeom prst="rect">
            <a:avLst/>
          </a:prstGeom>
          <a:noFill/>
        </p:spPr>
        <p:txBody>
          <a:bodyPr wrap="squar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defRPr/>
            </a:pPr>
            <a:r>
              <a:rPr kumimoji="0" lang="en-US" altLang="en-US" sz="2000" b="1" i="0" u="none" strike="noStrike" kern="1200" cap="none" spc="0" normalizeH="0" baseline="0" noProof="0" dirty="0">
                <a:ln>
                  <a:noFill/>
                </a:ln>
                <a:solidFill>
                  <a:schemeClr val="tx1"/>
                </a:solidFill>
                <a:effectLst/>
                <a:uLnTx/>
                <a:uFillTx/>
                <a:latin typeface="Times New Roman Bold" panose="02020503050405090304" charset="0"/>
                <a:ea typeface="+mn-ea"/>
                <a:cs typeface="Times New Roman Bold" panose="02020503050405090304" charset="0"/>
              </a:rPr>
              <a:t>Environmental Awareness:-</a:t>
            </a:r>
            <a:r>
              <a:rPr kumimoji="0" lang="en-US" altLang="en-US" sz="2000" b="0" i="0" u="none" strike="noStrik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rPr>
              <a:t>The app promotes responsible waste management and sustainability by encouraging eco-friendly habits and reducing environmental impact.</a:t>
            </a:r>
            <a:endParaRPr kumimoji="0" lang="en-US" altLang="en-US" sz="2000" b="0" i="0" u="none" strike="noStrike" kern="1200" cap="none" spc="0" normalizeH="0" baseline="0" noProof="0" dirty="0">
              <a:ln>
                <a:noFill/>
              </a:ln>
              <a:solidFill>
                <a:schemeClr val="tx1"/>
              </a:solidFill>
              <a:effectLst/>
              <a:uLnTx/>
              <a:uFillTx/>
              <a:latin typeface="Times New Roman Regular" panose="02020503050405090304" charset="0"/>
              <a:ea typeface="+mn-ea"/>
              <a:cs typeface="Times New Roman Regular" panose="0202050305040509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2230"/>
            <a:ext cx="7548880" cy="687705"/>
          </a:xfrm>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US" sz="4400" b="1" i="0" u="none" strike="noStrike" kern="1200" cap="none" spc="0" normalizeH="0" baseline="0" noProof="0" dirty="0">
                <a:ln>
                  <a:noFill/>
                </a:ln>
                <a:solidFill>
                  <a:schemeClr val="tx1"/>
                </a:solidFill>
                <a:effectLst/>
                <a:uLnTx/>
                <a:uFillTx/>
                <a:latin typeface="+mj-lt"/>
                <a:ea typeface="+mj-ea"/>
                <a:cs typeface="+mj-cs"/>
              </a:rPr>
            </a:br>
            <a:r>
              <a:rPr kumimoji="0" lang="en-US" sz="4400" b="1" i="0" u="none" strike="noStrike" kern="1200" cap="none" spc="0" normalizeH="0" baseline="0" noProof="0" dirty="0">
                <a:ln>
                  <a:noFill/>
                </a:ln>
                <a:solidFill>
                  <a:schemeClr val="tx1"/>
                </a:solidFill>
                <a:effectLst/>
                <a:uLnTx/>
                <a:uFillTx/>
                <a:latin typeface="+mj-lt"/>
                <a:ea typeface="+mj-ea"/>
                <a:cs typeface="+mj-cs"/>
              </a:rPr>
              <a:t>Flowchart of the system:</a:t>
            </a:r>
            <a:br>
              <a:rPr kumimoji="0" lang="en-US" sz="4400" b="1" i="0" u="none" strike="noStrike" kern="1200" cap="none" spc="0" normalizeH="0" baseline="0" noProof="0" dirty="0">
                <a:ln>
                  <a:noFill/>
                </a:ln>
                <a:solidFill>
                  <a:schemeClr val="tx1"/>
                </a:solidFill>
                <a:effectLst/>
                <a:uLnTx/>
                <a:uFillTx/>
                <a:latin typeface="+mj-lt"/>
                <a:ea typeface="+mj-ea"/>
                <a:cs typeface="+mj-cs"/>
              </a:rPr>
            </a:br>
            <a:endParaRPr kumimoji="0" lang="en-IN" sz="4400" b="1" i="0" u="none" strike="noStrike" kern="1200" cap="none" spc="0" normalizeH="0" baseline="0" noProof="0" dirty="0">
              <a:ln>
                <a:noFill/>
              </a:ln>
              <a:solidFill>
                <a:schemeClr val="tx1"/>
              </a:solidFill>
              <a:effectLst/>
              <a:uLnTx/>
              <a:uFillTx/>
              <a:latin typeface="+mj-lt"/>
              <a:ea typeface="+mj-ea"/>
              <a:cs typeface="+mj-cs"/>
            </a:endParaRPr>
          </a:p>
        </p:txBody>
      </p:sp>
      <p:sp>
        <p:nvSpPr>
          <p:cNvPr id="15363"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dirty="0">
                <a:sym typeface="+mn-ea"/>
              </a:rPr>
              <a:t>02/04/2025</a:t>
            </a:r>
            <a:endParaRPr lang="en-IN" altLang="en-US" dirty="0"/>
          </a:p>
          <a:p>
            <a:pPr marL="0" indent="0">
              <a:lnSpc>
                <a:spcPct val="100000"/>
              </a:lnSpc>
              <a:spcBef>
                <a:spcPct val="0"/>
              </a:spcBef>
              <a:buFontTx/>
              <a:buNone/>
            </a:pPr>
            <a:endParaRPr lang="en-IN" altLang="en-US" sz="1200" dirty="0"/>
          </a:p>
        </p:txBody>
      </p:sp>
      <p:sp>
        <p:nvSpPr>
          <p:cNvPr id="15364"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dirty="0">
                <a:sym typeface="+mn-ea"/>
              </a:rPr>
              <a:t>Project Presentation 2025</a:t>
            </a:r>
            <a:endParaRPr lang="en-IN" altLang="en-US" sz="1200" dirty="0"/>
          </a:p>
        </p:txBody>
      </p:sp>
      <p:sp>
        <p:nvSpPr>
          <p:cNvPr id="15365"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pic>
        <p:nvPicPr>
          <p:cNvPr id="15366" name="Picture 5"/>
          <p:cNvPicPr>
            <a:picLocks noChangeAspect="1"/>
          </p:cNvPicPr>
          <p:nvPr/>
        </p:nvPicPr>
        <p:blipFill>
          <a:blip r:embed="rId1"/>
          <a:stretch>
            <a:fillRect/>
          </a:stretch>
        </p:blipFill>
        <p:spPr>
          <a:xfrm>
            <a:off x="3543300" y="641985"/>
            <a:ext cx="4114800" cy="571436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dirty="0">
                <a:sym typeface="+mn-ea"/>
              </a:rPr>
              <a:t>02/04/2025</a:t>
            </a:r>
            <a:endParaRPr lang="en-IN" altLang="en-US" sz="1200" dirty="0"/>
          </a:p>
        </p:txBody>
      </p:sp>
      <p:sp>
        <p:nvSpPr>
          <p:cNvPr id="16387"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dirty="0">
                <a:sym typeface="+mn-ea"/>
              </a:rPr>
              <a:t>Project Presentation 2025</a:t>
            </a:r>
            <a:endParaRPr lang="en-IN" altLang="en-US" sz="1200" dirty="0"/>
          </a:p>
        </p:txBody>
      </p:sp>
      <p:sp>
        <p:nvSpPr>
          <p:cNvPr id="16388"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sp>
        <p:nvSpPr>
          <p:cNvPr id="16389" name="Title 1"/>
          <p:cNvSpPr>
            <a:spLocks noGrp="1"/>
          </p:cNvSpPr>
          <p:nvPr/>
        </p:nvSpPr>
        <p:spPr>
          <a:xfrm>
            <a:off x="727075" y="541338"/>
            <a:ext cx="8410575" cy="768350"/>
          </a:xfrm>
          <a:prstGeom prst="rect">
            <a:avLst/>
          </a:prstGeom>
          <a:noFill/>
          <a:ln w="9525">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defTabSz="457200">
              <a:lnSpc>
                <a:spcPct val="100000"/>
              </a:lnSpc>
              <a:spcBef>
                <a:spcPct val="0"/>
              </a:spcBef>
              <a:buFontTx/>
              <a:buNone/>
            </a:pPr>
            <a:r>
              <a:rPr sz="3600" b="1" dirty="0">
                <a:latin typeface="Calibri Light" pitchFamily="34" charset="0"/>
              </a:rPr>
              <a:t>REQUIREMENT </a:t>
            </a:r>
            <a:r>
              <a:rPr sz="3600" b="1" dirty="0">
                <a:latin typeface="Calibri Light" pitchFamily="34" charset="0"/>
              </a:rPr>
              <a:t>ANALYSIS:</a:t>
            </a:r>
            <a:endParaRPr sz="3600" b="1" dirty="0">
              <a:latin typeface="Calibri Light" pitchFamily="34" charset="0"/>
            </a:endParaRPr>
          </a:p>
        </p:txBody>
      </p:sp>
      <p:sp>
        <p:nvSpPr>
          <p:cNvPr id="16390" name="TextBox 4"/>
          <p:cNvSpPr txBox="1"/>
          <p:nvPr/>
        </p:nvSpPr>
        <p:spPr>
          <a:xfrm>
            <a:off x="1079500" y="1447165"/>
            <a:ext cx="8058150" cy="5073015"/>
          </a:xfrm>
          <a:prstGeom prst="rect">
            <a:avLst/>
          </a:prstGeom>
          <a:noFill/>
          <a:ln w="9525">
            <a:noFill/>
          </a:ln>
        </p:spPr>
        <p:txBody>
          <a:bodyPr>
            <a:noAutofit/>
          </a:bodyPr>
          <a:p>
            <a:pPr eaLnBrk="1" hangingPunct="1">
              <a:lnSpc>
                <a:spcPct val="150000"/>
              </a:lnSpc>
              <a:buClr>
                <a:schemeClr val="tx1"/>
              </a:buClr>
              <a:buFont typeface="Wingdings" panose="05000000000000000000" pitchFamily="2" charset="2"/>
              <a:buChar char="Ø"/>
            </a:pPr>
            <a:r>
              <a:rPr sz="2200" b="1" dirty="0">
                <a:latin typeface="Times New Roman" panose="02020503050405090304" pitchFamily="18" charset="0"/>
                <a:cs typeface="Times New Roman" panose="02020503050405090304" pitchFamily="18" charset="0"/>
              </a:rPr>
              <a:t>Functional Requirements:</a:t>
            </a:r>
            <a:endParaRPr sz="2200" b="1" dirty="0">
              <a:latin typeface="Times New Roman" panose="02020503050405090304" pitchFamily="18" charset="0"/>
              <a:cs typeface="Times New Roman" panose="02020503050405090304" pitchFamily="18" charset="0"/>
            </a:endParaRPr>
          </a:p>
          <a:p>
            <a:pPr lvl="1" eaLnBrk="1" hangingPunct="1">
              <a:lnSpc>
                <a:spcPct val="150000"/>
              </a:lnSpc>
              <a:buClr>
                <a:schemeClr val="tx1"/>
              </a:buClr>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User Authentication</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Clr>
                <a:schemeClr val="tx1"/>
              </a:buClr>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Photo Upload and Capture</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Clr>
                <a:schemeClr val="tx1"/>
              </a:buClr>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Image Recognition</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Clr>
                <a:schemeClr val="tx1"/>
              </a:buClr>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Recycling and Disposal Instructions</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Clr>
                <a:schemeClr val="tx1"/>
              </a:buClr>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Educational Content</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Clr>
                <a:schemeClr val="tx1"/>
              </a:buClr>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Feedback Mechanism</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Clr>
                <a:schemeClr val="tx1"/>
              </a:buClr>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Admin Dashboard</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Clr>
                <a:schemeClr val="tx1"/>
              </a:buClr>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User Interface</a:t>
            </a:r>
            <a:endParaRPr lang="en-US" altLang="en-US" sz="2200" dirty="0">
              <a:latin typeface="Times New Roman" panose="02020503050405090304" pitchFamily="18" charset="0"/>
              <a:cs typeface="Times New Roman" panose="02020503050405090304" pitchFamily="18" charset="0"/>
            </a:endParaRPr>
          </a:p>
          <a:p>
            <a:pPr eaLnBrk="1" hangingPunct="1">
              <a:buNone/>
            </a:pPr>
            <a:endParaRPr lang="en-IN" altLang="x-none" sz="2200" dirty="0">
              <a:latin typeface="Calibri"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txBox="1">
            <a:spLocks noGrp="1"/>
          </p:cNvSpPr>
          <p:nvPr>
            <p:ph type="dt" sz="half" idx="2"/>
          </p:nvPr>
        </p:nvSpPr>
        <p:spPr>
          <a:noFill/>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IN" dirty="0">
                <a:sym typeface="+mn-ea"/>
              </a:rPr>
              <a:t>02/04/2025</a:t>
            </a:r>
            <a:endParaRPr lang="en-I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indent="0" algn="ctr">
              <a:lnSpc>
                <a:spcPct val="100000"/>
              </a:lnSpc>
              <a:spcBef>
                <a:spcPct val="0"/>
              </a:spcBef>
              <a:buFontTx/>
              <a:buNone/>
            </a:pPr>
            <a:r>
              <a:rPr lang="en-US" altLang="en-US" dirty="0">
                <a:sym typeface="+mn-ea"/>
              </a:rPr>
              <a:t>Project Presentation 2025</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Slide Number Placeholder 5"/>
          <p:cNvSpPr txBox="1">
            <a:spLocks noGrp="1"/>
          </p:cNvSpPr>
          <p:nvPr>
            <p:ph type="sldNum" sz="quarter" idx="4"/>
          </p:nvPr>
        </p:nvSpPr>
        <p:spPr>
          <a:noFill/>
        </p:spPr>
        <p:txBody>
          <a:bodyPr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5pPr>
          </a:lstStyle>
          <a:p>
            <a:pPr lvl="0" algn="r">
              <a:buNone/>
            </a:pPr>
            <a:fld id="{9A0DB2DC-4C9A-4742-B13C-FB6460FD3503}" type="slidenum">
              <a:rPr lang="en-IN" altLang="en-US" sz="1200" dirty="0">
                <a:solidFill>
                  <a:srgbClr val="898989"/>
                </a:solidFill>
              </a:rPr>
            </a:fld>
            <a:endParaRPr lang="en-IN" altLang="en-US" sz="1200" dirty="0">
              <a:solidFill>
                <a:srgbClr val="898989"/>
              </a:solidFill>
            </a:endParaRPr>
          </a:p>
        </p:txBody>
      </p:sp>
      <p:sp>
        <p:nvSpPr>
          <p:cNvPr id="17413" name="Title 1"/>
          <p:cNvSpPr>
            <a:spLocks noGrp="1"/>
          </p:cNvSpPr>
          <p:nvPr/>
        </p:nvSpPr>
        <p:spPr>
          <a:xfrm>
            <a:off x="727075" y="541338"/>
            <a:ext cx="8410575" cy="768350"/>
          </a:xfrm>
          <a:prstGeom prst="rect">
            <a:avLst/>
          </a:prstGeom>
          <a:noFill/>
          <a:ln w="9525">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defTabSz="457200">
              <a:lnSpc>
                <a:spcPct val="100000"/>
              </a:lnSpc>
              <a:spcBef>
                <a:spcPct val="0"/>
              </a:spcBef>
              <a:buFontTx/>
              <a:buNone/>
            </a:pPr>
            <a:r>
              <a:rPr sz="3600" b="1" dirty="0">
                <a:latin typeface="Calibri Light" pitchFamily="34" charset="0"/>
              </a:rPr>
              <a:t>REQUIREMENT </a:t>
            </a:r>
            <a:r>
              <a:rPr sz="3600" b="1" dirty="0">
                <a:latin typeface="Calibri Light" pitchFamily="34" charset="0"/>
              </a:rPr>
              <a:t>ANALYSIS:</a:t>
            </a:r>
            <a:endParaRPr sz="3600" b="1" dirty="0">
              <a:latin typeface="Calibri Light" pitchFamily="34" charset="0"/>
            </a:endParaRPr>
          </a:p>
        </p:txBody>
      </p:sp>
      <p:sp>
        <p:nvSpPr>
          <p:cNvPr id="17414" name="TextBox 8"/>
          <p:cNvSpPr txBox="1"/>
          <p:nvPr/>
        </p:nvSpPr>
        <p:spPr>
          <a:xfrm>
            <a:off x="1017270" y="1478280"/>
            <a:ext cx="8021955" cy="4745990"/>
          </a:xfrm>
          <a:prstGeom prst="rect">
            <a:avLst/>
          </a:prstGeom>
          <a:noFill/>
          <a:ln w="9525">
            <a:noFill/>
          </a:ln>
        </p:spPr>
        <p:txBody>
          <a:bodyPr>
            <a:noAutofit/>
          </a:bodyPr>
          <a:p>
            <a:pPr eaLnBrk="1" hangingPunct="1">
              <a:lnSpc>
                <a:spcPct val="150000"/>
              </a:lnSpc>
              <a:buClr>
                <a:schemeClr val="tx1"/>
              </a:buClr>
              <a:buFont typeface="Wingdings" panose="05000000000000000000" pitchFamily="2" charset="2"/>
              <a:buChar char="Ø"/>
            </a:pPr>
            <a:r>
              <a:rPr sz="2200" b="1" dirty="0">
                <a:latin typeface="Times New Roman" panose="02020503050405090304" pitchFamily="18" charset="0"/>
                <a:cs typeface="Times New Roman" panose="02020503050405090304" pitchFamily="18" charset="0"/>
              </a:rPr>
              <a:t>Non-Functional Requirements:</a:t>
            </a:r>
            <a:endParaRPr sz="2200" b="1" dirty="0">
              <a:latin typeface="Times New Roman" panose="02020503050405090304" pitchFamily="18" charset="0"/>
              <a:cs typeface="Times New Roman" panose="02020503050405090304" pitchFamily="18" charset="0"/>
            </a:endParaRPr>
          </a:p>
          <a:p>
            <a:pPr lvl="1" eaLnBrk="1" hangingPunct="1">
              <a:lnSpc>
                <a:spcPct val="150000"/>
              </a:lnSpc>
              <a:buFont typeface="Arial" panose="020B0604020202090204" pitchFamily="34" charset="0"/>
              <a:buChar char="•"/>
            </a:pPr>
            <a:r>
              <a:rPr sz="2200" dirty="0">
                <a:latin typeface="Times New Roman" panose="02020503050405090304" pitchFamily="18" charset="0"/>
                <a:cs typeface="Times New Roman" panose="02020503050405090304" pitchFamily="18" charset="0"/>
              </a:rPr>
              <a:t>Performance </a:t>
            </a:r>
            <a:endParaRPr sz="2200" dirty="0">
              <a:latin typeface="Times New Roman" panose="02020503050405090304" pitchFamily="18" charset="0"/>
              <a:cs typeface="Times New Roman" panose="02020503050405090304" pitchFamily="18" charset="0"/>
            </a:endParaRPr>
          </a:p>
          <a:p>
            <a:pPr lvl="1" eaLnBrk="1" hangingPunct="1">
              <a:lnSpc>
                <a:spcPct val="150000"/>
              </a:lnSpc>
              <a:buFont typeface="Arial" panose="020B0604020202090204" pitchFamily="34" charset="0"/>
              <a:buChar char="•"/>
            </a:pPr>
            <a:r>
              <a:rPr sz="2200" dirty="0">
                <a:latin typeface="Times New Roman" panose="02020503050405090304" pitchFamily="18" charset="0"/>
                <a:cs typeface="Times New Roman" panose="02020503050405090304" pitchFamily="18" charset="0"/>
              </a:rPr>
              <a:t>Usability</a:t>
            </a:r>
            <a:endParaRPr sz="2200" dirty="0">
              <a:latin typeface="Times New Roman" panose="02020503050405090304" pitchFamily="18" charset="0"/>
              <a:cs typeface="Times New Roman" panose="02020503050405090304" pitchFamily="18" charset="0"/>
            </a:endParaRPr>
          </a:p>
          <a:p>
            <a:pPr lvl="1" eaLnBrk="1" hangingPunct="1">
              <a:lnSpc>
                <a:spcPct val="150000"/>
              </a:lnSpc>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Reliability</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Usability</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Compatibility</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Maintainability</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Font typeface="Arial" panose="020B0604020202090204" pitchFamily="34" charset="0"/>
              <a:buChar char="•"/>
            </a:pPr>
            <a:r>
              <a:rPr lang="en-US" altLang="en-US" sz="2200" dirty="0">
                <a:latin typeface="Times New Roman" panose="02020503050405090304" pitchFamily="18" charset="0"/>
                <a:cs typeface="Times New Roman" panose="02020503050405090304" pitchFamily="18" charset="0"/>
              </a:rPr>
              <a:t>Accessibility</a:t>
            </a:r>
            <a:endParaRPr lang="en-US" altLang="en-US" sz="2200" dirty="0">
              <a:latin typeface="Times New Roman" panose="02020503050405090304" pitchFamily="18" charset="0"/>
              <a:cs typeface="Times New Roman" panose="02020503050405090304" pitchFamily="18" charset="0"/>
            </a:endParaRPr>
          </a:p>
          <a:p>
            <a:pPr lvl="1" eaLnBrk="1" hangingPunct="1">
              <a:lnSpc>
                <a:spcPct val="150000"/>
              </a:lnSpc>
              <a:buFont typeface="Arial" panose="020B0604020202090204" pitchFamily="34" charset="0"/>
              <a:buChar char="•"/>
            </a:pPr>
            <a:r>
              <a:rPr sz="2200" dirty="0">
                <a:latin typeface="Times New Roman" panose="02020503050405090304" pitchFamily="18" charset="0"/>
                <a:cs typeface="Times New Roman" panose="02020503050405090304" pitchFamily="18" charset="0"/>
              </a:rPr>
              <a:t>Efficiency</a:t>
            </a:r>
            <a:endParaRPr sz="2200" dirty="0">
              <a:latin typeface="Times New Roman" panose="02020503050405090304" pitchFamily="18" charset="0"/>
              <a:cs typeface="Times New Roman" panose="02020503050405090304" pitchFamily="18" charset="0"/>
            </a:endParaRPr>
          </a:p>
          <a:p>
            <a:pPr eaLnBrk="1" hangingPunct="1">
              <a:buNone/>
            </a:pPr>
            <a:endParaRPr lang="en-IN" altLang="x-none" sz="2200" dirty="0">
              <a:latin typeface="Calibri"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a:xfrm>
            <a:off x="40640" y="77470"/>
            <a:ext cx="6055360" cy="817245"/>
          </a:xfrm>
        </p:spPr>
        <p:txBody>
          <a:bodyPr vert="horz" wrap="square" lIns="91440" tIns="45720" rIns="91440" bIns="45720" anchor="ctr" anchorCtr="0"/>
          <a:p>
            <a:r>
              <a:rPr lang="en-US" altLang="en-US" sz="3800" b="1" dirty="0"/>
              <a:t>UML Diagrams:</a:t>
            </a:r>
            <a:endParaRPr lang="en-IN" altLang="en-US" sz="3800" b="1" dirty="0"/>
          </a:p>
        </p:txBody>
      </p:sp>
      <p:sp>
        <p:nvSpPr>
          <p:cNvPr id="18435" name="Content Placeholder 2"/>
          <p:cNvSpPr>
            <a:spLocks noGrp="1"/>
          </p:cNvSpPr>
          <p:nvPr>
            <p:ph idx="1"/>
          </p:nvPr>
        </p:nvSpPr>
        <p:spPr>
          <a:xfrm>
            <a:off x="318135" y="701675"/>
            <a:ext cx="6649720" cy="695960"/>
          </a:xfrm>
        </p:spPr>
        <p:txBody>
          <a:bodyPr vert="horz" wrap="square" lIns="91440" tIns="45720" rIns="91440" bIns="45720" anchor="t" anchorCtr="0"/>
          <a:p>
            <a:pPr marL="0" indent="0">
              <a:buNone/>
            </a:pPr>
            <a:r>
              <a:rPr lang="en-IN" altLang="en-US" sz="3000" dirty="0"/>
              <a:t>Class and Relationship Diagram :</a:t>
            </a:r>
            <a:endParaRPr lang="en-IN" altLang="en-US" sz="3000" dirty="0"/>
          </a:p>
        </p:txBody>
      </p:sp>
      <p:sp>
        <p:nvSpPr>
          <p:cNvPr id="18436"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dirty="0">
                <a:sym typeface="+mn-ea"/>
              </a:rPr>
              <a:t>02/04/2025</a:t>
            </a:r>
            <a:endParaRPr lang="en-IN" altLang="en-US" sz="1200" dirty="0"/>
          </a:p>
        </p:txBody>
      </p:sp>
      <p:sp>
        <p:nvSpPr>
          <p:cNvPr id="18437"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dirty="0">
                <a:sym typeface="+mn-ea"/>
              </a:rPr>
              <a:t>Project Presentation 2025</a:t>
            </a:r>
            <a:endParaRPr lang="en-IN" altLang="en-US" sz="1200" dirty="0"/>
          </a:p>
        </p:txBody>
      </p:sp>
      <p:sp>
        <p:nvSpPr>
          <p:cNvPr id="18438"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pic>
        <p:nvPicPr>
          <p:cNvPr id="2" name="Picture 1" descr="diagram-export-27-02-2025-22_53_26"/>
          <p:cNvPicPr>
            <a:picLocks noChangeAspect="1"/>
          </p:cNvPicPr>
          <p:nvPr/>
        </p:nvPicPr>
        <p:blipFill>
          <a:blip r:embed="rId1"/>
          <a:stretch>
            <a:fillRect/>
          </a:stretch>
        </p:blipFill>
        <p:spPr>
          <a:xfrm>
            <a:off x="1125220" y="1252220"/>
            <a:ext cx="10086340" cy="4670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txBox="1">
            <a:spLocks noGrp="1"/>
          </p:cNvSpPr>
          <p:nvPr>
            <p:ph type="dt" sz="half" idx="2"/>
          </p:nvPr>
        </p:nvSpPr>
        <p:spPr>
          <a:noFill/>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IN" dirty="0">
                <a:sym typeface="+mn-ea"/>
              </a:rPr>
              <a:t>02/04/2025</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Slide Number Placeholder 5"/>
          <p:cNvSpPr txBox="1">
            <a:spLocks noGrp="1"/>
          </p:cNvSpPr>
          <p:nvPr>
            <p:ph type="sldNum" sz="quarter" idx="4"/>
          </p:nvPr>
        </p:nvSpPr>
        <p:spPr>
          <a:noFill/>
        </p:spPr>
        <p:txBody>
          <a:bodyPr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5pPr>
          </a:lstStyle>
          <a:p>
            <a:pPr lvl="0" algn="r">
              <a:buNone/>
            </a:pPr>
            <a:fld id="{9A0DB2DC-4C9A-4742-B13C-FB6460FD3503}" type="slidenum">
              <a:rPr lang="en-IN" altLang="en-US" sz="1200" dirty="0">
                <a:solidFill>
                  <a:srgbClr val="898989"/>
                </a:solidFill>
              </a:rPr>
            </a:fld>
            <a:endParaRPr lang="en-IN" altLang="en-US" sz="1200" dirty="0">
              <a:solidFill>
                <a:srgbClr val="898989"/>
              </a:solidFill>
            </a:endParaRPr>
          </a:p>
        </p:txBody>
      </p:sp>
      <p:sp>
        <p:nvSpPr>
          <p:cNvPr id="19462" name="Content Placeholder 2"/>
          <p:cNvSpPr>
            <a:spLocks noGrp="1"/>
          </p:cNvSpPr>
          <p:nvPr>
            <p:ph idx="1"/>
          </p:nvPr>
        </p:nvSpPr>
        <p:spPr>
          <a:xfrm>
            <a:off x="111760" y="134620"/>
            <a:ext cx="5391150" cy="673100"/>
          </a:xfrm>
        </p:spPr>
        <p:txBody>
          <a:bodyPr vert="horz" wrap="square" lIns="91440" tIns="45720" rIns="91440" bIns="45720" anchor="t" anchorCtr="0"/>
          <a:p>
            <a:pPr marL="0" indent="0">
              <a:buNone/>
            </a:pPr>
            <a:r>
              <a:rPr lang="en-IN" altLang="en-US" sz="3000" dirty="0"/>
              <a:t>Sequence Diagram :</a:t>
            </a:r>
            <a:endParaRPr lang="en-IN" altLang="en-US" sz="3000" dirty="0"/>
          </a:p>
        </p:txBody>
      </p:sp>
      <p:sp>
        <p:nvSpPr>
          <p:cNvPr id="19463" name="Date Placeholder 3"/>
          <p:cNvSpPr txBox="1"/>
          <p:nvPr/>
        </p:nvSpPr>
        <p:spPr>
          <a:xfrm>
            <a:off x="838200" y="5775325"/>
            <a:ext cx="2743200" cy="365125"/>
          </a:xfrm>
          <a:prstGeom prst="rect">
            <a:avLst/>
          </a:prstGeom>
          <a:noFill/>
          <a:ln w="9525">
            <a:no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a:lnSpc>
                <a:spcPct val="100000"/>
              </a:lnSpc>
              <a:spcBef>
                <a:spcPct val="0"/>
              </a:spcBef>
              <a:buFontTx/>
              <a:buNone/>
            </a:pPr>
            <a:endParaRPr lang="en-IN" altLang="en-US" sz="1200" dirty="0"/>
          </a:p>
        </p:txBody>
      </p:sp>
      <p:sp>
        <p:nvSpPr>
          <p:cNvPr id="19464" name="Footer Placeholder 4"/>
          <p:cNvSpPr txBox="1"/>
          <p:nvPr/>
        </p:nvSpPr>
        <p:spPr>
          <a:xfrm>
            <a:off x="4038600" y="6356350"/>
            <a:ext cx="4114800" cy="365125"/>
          </a:xfrm>
          <a:prstGeom prst="rect">
            <a:avLst/>
          </a:prstGeom>
          <a:noFill/>
          <a:ln w="9525">
            <a:no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indent="0" algn="ctr">
              <a:lnSpc>
                <a:spcPct val="100000"/>
              </a:lnSpc>
              <a:spcBef>
                <a:spcPct val="0"/>
              </a:spcBef>
              <a:buFontTx/>
              <a:buNone/>
            </a:pPr>
            <a:r>
              <a:rPr lang="en-US" altLang="en-US" sz="1200" dirty="0">
                <a:sym typeface="+mn-ea"/>
              </a:rPr>
              <a:t>Project Presentation 2025</a:t>
            </a:r>
            <a:endParaRPr lang="en-IN" altLang="en-US" sz="1200" dirty="0"/>
          </a:p>
        </p:txBody>
      </p:sp>
      <p:sp>
        <p:nvSpPr>
          <p:cNvPr id="19465" name="Slide Number Placeholder 5"/>
          <p:cNvSpPr txBox="1"/>
          <p:nvPr/>
        </p:nvSpPr>
        <p:spPr>
          <a:xfrm>
            <a:off x="8610600" y="6356350"/>
            <a:ext cx="2743200" cy="365125"/>
          </a:xfrm>
          <a:prstGeom prst="rect">
            <a:avLst/>
          </a:prstGeom>
          <a:noFill/>
          <a:ln w="9525">
            <a:no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algn="r">
              <a:lnSpc>
                <a:spcPct val="100000"/>
              </a:lnSpc>
              <a:spcBef>
                <a:spcPct val="0"/>
              </a:spcBef>
              <a:buFontTx/>
              <a:buNone/>
            </a:pPr>
            <a:fld id="{9A0DB2DC-4C9A-4742-B13C-FB6460FD3503}" type="slidenum">
              <a:rPr lang="en-IN" altLang="en-US" sz="1200" dirty="0"/>
            </a:fld>
            <a:endParaRPr lang="en-IN" altLang="en-US" sz="1200" dirty="0"/>
          </a:p>
        </p:txBody>
      </p:sp>
      <p:pic>
        <p:nvPicPr>
          <p:cNvPr id="2" name="Picture 1" descr="diagram-export-27-02-2025-23_14_28"/>
          <p:cNvPicPr>
            <a:picLocks noChangeAspect="1"/>
          </p:cNvPicPr>
          <p:nvPr/>
        </p:nvPicPr>
        <p:blipFill>
          <a:blip r:embed="rId1"/>
          <a:stretch>
            <a:fillRect/>
          </a:stretch>
        </p:blipFill>
        <p:spPr>
          <a:xfrm>
            <a:off x="4309745" y="118745"/>
            <a:ext cx="4223385" cy="62376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txBox="1">
            <a:spLocks noGrp="1"/>
          </p:cNvSpPr>
          <p:nvPr>
            <p:ph type="dt" sz="half" idx="2"/>
          </p:nvPr>
        </p:nvSpPr>
        <p:spPr>
          <a:noFill/>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IN" dirty="0">
                <a:sym typeface="+mn-ea"/>
              </a:rPr>
              <a:t>02/04/2025</a:t>
            </a:r>
            <a:endParaRPr lang="en-I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Slide Number Placeholder 5"/>
          <p:cNvSpPr txBox="1">
            <a:spLocks noGrp="1"/>
          </p:cNvSpPr>
          <p:nvPr>
            <p:ph type="sldNum" sz="quarter" idx="4"/>
          </p:nvPr>
        </p:nvSpPr>
        <p:spPr>
          <a:noFill/>
        </p:spPr>
        <p:txBody>
          <a:bodyPr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itchFamily="34" charset="0"/>
                <a:ea typeface="+mn-ea"/>
                <a:cs typeface="+mn-cs"/>
              </a:defRPr>
            </a:lvl5pPr>
          </a:lstStyle>
          <a:p>
            <a:pPr lvl="0" algn="r">
              <a:buNone/>
            </a:pPr>
            <a:fld id="{9A0DB2DC-4C9A-4742-B13C-FB6460FD3503}" type="slidenum">
              <a:rPr lang="en-IN" altLang="en-US" sz="1200" dirty="0">
                <a:solidFill>
                  <a:srgbClr val="898989"/>
                </a:solidFill>
              </a:rPr>
            </a:fld>
            <a:endParaRPr lang="en-IN" altLang="en-US" sz="1200" dirty="0">
              <a:solidFill>
                <a:srgbClr val="898989"/>
              </a:solidFill>
            </a:endParaRPr>
          </a:p>
        </p:txBody>
      </p:sp>
      <p:sp>
        <p:nvSpPr>
          <p:cNvPr id="20486" name="Footer Placeholder 4"/>
          <p:cNvSpPr txBox="1"/>
          <p:nvPr/>
        </p:nvSpPr>
        <p:spPr>
          <a:xfrm>
            <a:off x="4038600" y="6356350"/>
            <a:ext cx="4114800" cy="365125"/>
          </a:xfrm>
          <a:prstGeom prst="rect">
            <a:avLst/>
          </a:prstGeom>
          <a:noFill/>
          <a:ln w="9525">
            <a:no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algn="ctr">
              <a:lnSpc>
                <a:spcPct val="100000"/>
              </a:lnSpc>
              <a:spcBef>
                <a:spcPct val="0"/>
              </a:spcBef>
              <a:buFontTx/>
              <a:buNone/>
            </a:pPr>
            <a:r>
              <a:rPr sz="1200" dirty="0">
                <a:solidFill>
                  <a:srgbClr val="898989"/>
                </a:solidFill>
              </a:rPr>
              <a:t>Project Presentation 2023</a:t>
            </a:r>
            <a:endParaRPr lang="en-IN" altLang="x-none" sz="1200" dirty="0">
              <a:solidFill>
                <a:srgbClr val="898989"/>
              </a:solidFill>
            </a:endParaRPr>
          </a:p>
        </p:txBody>
      </p:sp>
      <p:sp>
        <p:nvSpPr>
          <p:cNvPr id="20487" name="Slide Number Placeholder 5"/>
          <p:cNvSpPr txBox="1"/>
          <p:nvPr/>
        </p:nvSpPr>
        <p:spPr>
          <a:xfrm>
            <a:off x="8610600" y="6356350"/>
            <a:ext cx="2743200" cy="365125"/>
          </a:xfrm>
          <a:prstGeom prst="rect">
            <a:avLst/>
          </a:prstGeom>
          <a:noFill/>
          <a:ln w="9525">
            <a:no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algn="r">
              <a:lnSpc>
                <a:spcPct val="100000"/>
              </a:lnSpc>
              <a:spcBef>
                <a:spcPct val="0"/>
              </a:spcBef>
              <a:buFontTx/>
              <a:buNone/>
            </a:pPr>
            <a:fld id="{9A0DB2DC-4C9A-4742-B13C-FB6460FD3503}" type="slidenum">
              <a:rPr lang="en-IN" altLang="en-US" sz="1200" dirty="0">
                <a:solidFill>
                  <a:srgbClr val="898989"/>
                </a:solidFill>
              </a:rPr>
            </a:fld>
            <a:endParaRPr lang="en-IN" altLang="en-US" sz="1200" dirty="0">
              <a:solidFill>
                <a:srgbClr val="898989"/>
              </a:solidFill>
            </a:endParaRPr>
          </a:p>
        </p:txBody>
      </p:sp>
      <p:sp>
        <p:nvSpPr>
          <p:cNvPr id="20489" name="Content Placeholder 2"/>
          <p:cNvSpPr>
            <a:spLocks noGrp="1"/>
          </p:cNvSpPr>
          <p:nvPr>
            <p:ph idx="1"/>
          </p:nvPr>
        </p:nvSpPr>
        <p:spPr>
          <a:xfrm>
            <a:off x="0" y="83185"/>
            <a:ext cx="4114800" cy="798195"/>
          </a:xfrm>
        </p:spPr>
        <p:txBody>
          <a:bodyPr vert="horz" wrap="square" lIns="91440" tIns="45720" rIns="91440" bIns="45720" anchor="t" anchorCtr="0"/>
          <a:p>
            <a:pPr marL="0" indent="0">
              <a:buNone/>
            </a:pPr>
            <a:r>
              <a:rPr lang="en-IN" altLang="en-US" sz="3000" dirty="0"/>
              <a:t>Activity Diagram :</a:t>
            </a:r>
            <a:endParaRPr lang="en-IN" altLang="en-US" sz="3000" dirty="0"/>
          </a:p>
        </p:txBody>
      </p:sp>
      <p:sp>
        <p:nvSpPr>
          <p:cNvPr id="20491" name="Footer Placeholder 4"/>
          <p:cNvSpPr txBox="1"/>
          <p:nvPr/>
        </p:nvSpPr>
        <p:spPr>
          <a:xfrm>
            <a:off x="4038600" y="6356350"/>
            <a:ext cx="4114800" cy="365125"/>
          </a:xfrm>
          <a:prstGeom prst="rect">
            <a:avLst/>
          </a:prstGeom>
          <a:noFill/>
          <a:ln w="9525">
            <a:no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algn="ctr">
              <a:lnSpc>
                <a:spcPct val="100000"/>
              </a:lnSpc>
              <a:spcBef>
                <a:spcPct val="0"/>
              </a:spcBef>
              <a:buFontTx/>
              <a:buNone/>
            </a:pPr>
            <a:r>
              <a:rPr lang="en-US" altLang="en-US" sz="1200" dirty="0"/>
              <a:t>Project Presentation 2023</a:t>
            </a:r>
            <a:endParaRPr lang="en-IN" altLang="en-US" sz="1200" dirty="0"/>
          </a:p>
        </p:txBody>
      </p:sp>
      <p:sp>
        <p:nvSpPr>
          <p:cNvPr id="20492" name="Slide Number Placeholder 5"/>
          <p:cNvSpPr txBox="1"/>
          <p:nvPr/>
        </p:nvSpPr>
        <p:spPr>
          <a:xfrm>
            <a:off x="8610600" y="6356350"/>
            <a:ext cx="2743200" cy="365125"/>
          </a:xfrm>
          <a:prstGeom prst="rect">
            <a:avLst/>
          </a:prstGeom>
          <a:noFill/>
          <a:ln w="9525">
            <a:no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stStyle>
          <a:p>
            <a:pPr marL="0" lvl="0" indent="0" algn="r">
              <a:lnSpc>
                <a:spcPct val="100000"/>
              </a:lnSpc>
              <a:spcBef>
                <a:spcPct val="0"/>
              </a:spcBef>
              <a:buFontTx/>
              <a:buNone/>
            </a:pPr>
            <a:fld id="{9A0DB2DC-4C9A-4742-B13C-FB6460FD3503}" type="slidenum">
              <a:rPr lang="en-IN" altLang="en-US" sz="1200" dirty="0"/>
            </a:fld>
            <a:endParaRPr lang="en-IN" altLang="en-US" sz="1200" dirty="0"/>
          </a:p>
        </p:txBody>
      </p:sp>
      <p:pic>
        <p:nvPicPr>
          <p:cNvPr id="2" name="Picture 1" descr="diagram-export-27-02-2025-23_20_10"/>
          <p:cNvPicPr>
            <a:picLocks noChangeAspect="1"/>
          </p:cNvPicPr>
          <p:nvPr/>
        </p:nvPicPr>
        <p:blipFill>
          <a:blip r:embed="rId1"/>
          <a:stretch>
            <a:fillRect/>
          </a:stretch>
        </p:blipFill>
        <p:spPr>
          <a:xfrm>
            <a:off x="3096260" y="50800"/>
            <a:ext cx="6005195" cy="66706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a:xfrm>
            <a:off x="373063" y="400050"/>
            <a:ext cx="3665537" cy="1012825"/>
          </a:xfrm>
        </p:spPr>
        <p:txBody>
          <a:bodyPr vert="horz" wrap="square" lIns="91440" tIns="45720" rIns="91440" bIns="45720" anchor="ctr" anchorCtr="0"/>
          <a:p>
            <a:r>
              <a:rPr lang="en-US" altLang="en-US" b="1" dirty="0"/>
              <a:t>Conclusion:</a:t>
            </a:r>
            <a:endParaRPr lang="en-IN" altLang="en-US" b="1" dirty="0"/>
          </a:p>
        </p:txBody>
      </p:sp>
      <p:sp>
        <p:nvSpPr>
          <p:cNvPr id="21507" name="Content Placeholder 2"/>
          <p:cNvSpPr>
            <a:spLocks noGrp="1"/>
          </p:cNvSpPr>
          <p:nvPr>
            <p:ph idx="1"/>
          </p:nvPr>
        </p:nvSpPr>
        <p:spPr>
          <a:xfrm>
            <a:off x="715963" y="1624013"/>
            <a:ext cx="11252200" cy="2532062"/>
          </a:xfrm>
        </p:spPr>
        <p:txBody>
          <a:bodyPr vert="horz" wrap="square" lIns="91440" tIns="45720" rIns="91440" bIns="45720" anchor="t" anchorCtr="0"/>
          <a:p>
            <a:pPr>
              <a:buFont typeface="Wingdings" panose="05000000000000000000" pitchFamily="2" charset="2"/>
              <a:buChar char="Ø"/>
            </a:pPr>
            <a:r>
              <a:rPr lang="en-US" altLang="en-US" sz="2500" dirty="0">
                <a:latin typeface="Times New Roman Regular" panose="02020503050405090304" charset="0"/>
                <a:cs typeface="Times New Roman Regular" panose="02020503050405090304" charset="0"/>
              </a:rPr>
              <a:t>In conclusion, the Smart Waste Sorter project effectively leverages advanced image recognition technology to simplify waste sorting for users. By accurately classifying waste into specific categories and providing detailed recycling or disposal instructions, the system promotes responsible waste management practices. The comprehensive analysis, functional and non-functional requirements, and detailed UML diagrams ensure a robust and user-friendly application. Through this project, we aim to raise awareness about the importance of sustainability and encourage users to adopt eco-friendly habits. The Smart Waste Sorter not only addresses the immediate need for efficient waste sorting but also contributes to a cleaner, greener future.</a:t>
            </a:r>
            <a:endParaRPr lang="en-US" altLang="en-US" sz="2500" dirty="0">
              <a:latin typeface="Times New Roman Regular" panose="02020503050405090304" charset="0"/>
              <a:cs typeface="Times New Roman Regular" panose="02020503050405090304" charset="0"/>
            </a:endParaRPr>
          </a:p>
        </p:txBody>
      </p:sp>
      <p:sp>
        <p:nvSpPr>
          <p:cNvPr id="21508"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dirty="0">
                <a:sym typeface="+mn-ea"/>
              </a:rPr>
              <a:t>02/04/2025</a:t>
            </a:r>
            <a:endParaRPr lang="en-IN" altLang="en-US" sz="1200" dirty="0"/>
          </a:p>
        </p:txBody>
      </p:sp>
      <p:sp>
        <p:nvSpPr>
          <p:cNvPr id="21509"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dirty="0">
                <a:sym typeface="+mn-ea"/>
              </a:rPr>
              <a:t>Project Presentation 2025</a:t>
            </a:r>
            <a:endParaRPr lang="en-IN" altLang="en-US" sz="1200" dirty="0"/>
          </a:p>
        </p:txBody>
      </p:sp>
      <p:sp>
        <p:nvSpPr>
          <p:cNvPr id="21510"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a:xfrm>
            <a:off x="430213" y="320675"/>
            <a:ext cx="4337050" cy="1325563"/>
          </a:xfrm>
        </p:spPr>
        <p:txBody>
          <a:bodyPr vert="horz" wrap="square" lIns="91440" tIns="45720" rIns="91440" bIns="45720" anchor="ctr" anchorCtr="0"/>
          <a:p>
            <a:r>
              <a:rPr lang="en-US" altLang="en-US" b="1" dirty="0"/>
              <a:t>Future Work</a:t>
            </a:r>
            <a:r>
              <a:rPr lang="en-US" altLang="en-US" dirty="0"/>
              <a:t>:</a:t>
            </a:r>
            <a:endParaRPr lang="en-IN" altLang="en-US" dirty="0"/>
          </a:p>
        </p:txBody>
      </p:sp>
      <p:sp>
        <p:nvSpPr>
          <p:cNvPr id="19459" name="Content Placeholder 2"/>
          <p:cNvSpPr>
            <a:spLocks noGrp="1"/>
          </p:cNvSpPr>
          <p:nvPr>
            <p:ph idx="1"/>
          </p:nvPr>
        </p:nvSpPr>
        <p:spPr>
          <a:xfrm>
            <a:off x="838200" y="1527175"/>
            <a:ext cx="10736580" cy="4664710"/>
          </a:xfr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Enhanced Image Recognition</a:t>
            </a: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Integration with IoT Devices</a:t>
            </a: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User Engagement and Gamification</a:t>
            </a: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Expanding Waste Categories</a:t>
            </a: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Localization and Multilingual Support</a:t>
            </a: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Community Features</a:t>
            </a: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Partnerships with Recycling Centers</a:t>
            </a: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Mobile Application Development</a:t>
            </a: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endParaRPr kumimoji="0" lang="en-US"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2532"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dirty="0">
                <a:sym typeface="+mn-ea"/>
              </a:rPr>
              <a:t>02/04/2025</a:t>
            </a:r>
            <a:endParaRPr lang="en-IN" altLang="en-US" sz="1200" dirty="0"/>
          </a:p>
        </p:txBody>
      </p:sp>
      <p:sp>
        <p:nvSpPr>
          <p:cNvPr id="22533"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dirty="0">
                <a:sym typeface="+mn-ea"/>
              </a:rPr>
              <a:t>Project Presentation 2025</a:t>
            </a:r>
            <a:endParaRPr lang="en-IN" altLang="en-US" sz="1200" dirty="0"/>
          </a:p>
        </p:txBody>
      </p:sp>
      <p:sp>
        <p:nvSpPr>
          <p:cNvPr id="22534"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p:txBody>
          <a:bodyPr vert="horz" wrap="square" lIns="91440" tIns="45720" rIns="91440" bIns="45720" anchor="ctr" anchorCtr="0"/>
          <a:p>
            <a:r>
              <a:rPr lang="en-US" altLang="en-US" b="1" dirty="0"/>
              <a:t>References:</a:t>
            </a:r>
            <a:endParaRPr lang="en-US" altLang="en-US" b="1" dirty="0"/>
          </a:p>
        </p:txBody>
      </p:sp>
      <p:sp>
        <p:nvSpPr>
          <p:cNvPr id="23555" name="Content Placeholder 2"/>
          <p:cNvSpPr>
            <a:spLocks noGrp="1"/>
          </p:cNvSpPr>
          <p:nvPr>
            <p:ph idx="1"/>
          </p:nvPr>
        </p:nvSpPr>
        <p:spPr>
          <a:xfrm>
            <a:off x="838200" y="1584325"/>
            <a:ext cx="10515600" cy="4356100"/>
          </a:xfrm>
        </p:spPr>
        <p:txBody>
          <a:bodyPr vert="horz" wrap="square" lIns="91440" tIns="45720" rIns="91440" bIns="45720" anchor="t" anchorCtr="0"/>
          <a:p>
            <a:pPr marL="514350" indent="-514350">
              <a:buFont typeface="Calibri Light" pitchFamily="34" charset="0"/>
              <a:buAutoNum type="arabicPeriod"/>
            </a:pPr>
            <a:r>
              <a:rPr lang="en-US" altLang="en-US" sz="2400" b="1" dirty="0">
                <a:latin typeface="Times New Roman Bold" panose="02020503050405090304" charset="0"/>
                <a:cs typeface="Times New Roman Bold" panose="02020503050405090304" charset="0"/>
              </a:rPr>
              <a:t>"Handbook of Solid Waste Management"</a:t>
            </a:r>
            <a:r>
              <a:rPr lang="en-US" altLang="en-US" sz="2400" dirty="0">
                <a:latin typeface="Times New Roman Regular" panose="02020503050405090304" charset="0"/>
                <a:cs typeface="Times New Roman Regular" panose="02020503050405090304" charset="0"/>
              </a:rPr>
              <a:t> by George Tchobanoglous and Frank Kreith</a:t>
            </a:r>
            <a:endParaRPr lang="en-US" altLang="en-US" sz="2400" dirty="0">
              <a:latin typeface="Times New Roman Regular" panose="02020503050405090304" charset="0"/>
              <a:cs typeface="Times New Roman Regular" panose="02020503050405090304" charset="0"/>
            </a:endParaRPr>
          </a:p>
          <a:p>
            <a:pPr marL="514350" indent="-514350">
              <a:buFont typeface="Calibri Light" pitchFamily="34" charset="0"/>
              <a:buAutoNum type="arabicPeriod"/>
            </a:pPr>
            <a:r>
              <a:rPr lang="en-US" altLang="en-US" sz="2400" b="1" dirty="0">
                <a:latin typeface="Times New Roman Bold" panose="02020503050405090304" charset="0"/>
                <a:cs typeface="Times New Roman Bold" panose="02020503050405090304" charset="0"/>
              </a:rPr>
              <a:t>"Waste Management Practices: Municipal, Hazardous, and Industrial" </a:t>
            </a:r>
            <a:r>
              <a:rPr lang="en-US" altLang="en-US" sz="2400" dirty="0">
                <a:latin typeface="Times New Roman Regular" panose="02020503050405090304" charset="0"/>
                <a:cs typeface="Times New Roman Regular" panose="02020503050405090304" charset="0"/>
              </a:rPr>
              <a:t>by John Pichtel</a:t>
            </a:r>
            <a:endParaRPr lang="en-US" altLang="en-US" sz="2400" dirty="0">
              <a:latin typeface="Times New Roman Regular" panose="02020503050405090304" charset="0"/>
              <a:cs typeface="Times New Roman Regular" panose="02020503050405090304" charset="0"/>
            </a:endParaRPr>
          </a:p>
          <a:p>
            <a:pPr marL="514350" indent="-514350">
              <a:buFont typeface="Calibri Light" pitchFamily="34" charset="0"/>
              <a:buAutoNum type="arabicPeriod"/>
            </a:pPr>
            <a:r>
              <a:rPr lang="en-US" altLang="en-US" sz="2400" b="1" dirty="0">
                <a:latin typeface="Times New Roman Bold" panose="02020503050405090304" charset="0"/>
                <a:cs typeface="Times New Roman Bold" panose="02020503050405090304" charset="0"/>
              </a:rPr>
              <a:t>"Integrated Solid Waste Management: Engineering Principles and Management Issues"</a:t>
            </a:r>
            <a:r>
              <a:rPr lang="en-US" altLang="en-US" sz="2400" dirty="0">
                <a:latin typeface="Times New Roman Regular" panose="02020503050405090304" charset="0"/>
                <a:cs typeface="Times New Roman Regular" panose="02020503050405090304" charset="0"/>
              </a:rPr>
              <a:t> by George Tchobanoglous, Hilary Theisen, and Samuel Vigil</a:t>
            </a:r>
            <a:endParaRPr lang="en-US" altLang="en-US" sz="2400" dirty="0">
              <a:latin typeface="Times New Roman Regular" panose="02020503050405090304" charset="0"/>
              <a:cs typeface="Times New Roman Regular" panose="02020503050405090304" charset="0"/>
            </a:endParaRPr>
          </a:p>
          <a:p>
            <a:pPr marL="514350" indent="-514350">
              <a:buFont typeface="Calibri Light" pitchFamily="34" charset="0"/>
              <a:buAutoNum type="arabicPeriod"/>
            </a:pPr>
            <a:r>
              <a:rPr lang="en-US" altLang="en-US" sz="2400" b="1" dirty="0">
                <a:latin typeface="Times New Roman Bold" panose="02020503050405090304" charset="0"/>
                <a:cs typeface="Times New Roman Bold" panose="02020503050405090304" charset="0"/>
              </a:rPr>
              <a:t>"Electronic Waste Management: Design, Analysis and Application" </a:t>
            </a:r>
            <a:r>
              <a:rPr lang="en-US" altLang="en-US" sz="2400" dirty="0">
                <a:latin typeface="Times New Roman Regular" panose="02020503050405090304" charset="0"/>
                <a:cs typeface="Times New Roman Regular" panose="02020503050405090304" charset="0"/>
              </a:rPr>
              <a:t>by R.E. Hester and R.M. Harrison</a:t>
            </a:r>
            <a:endParaRPr lang="en-US" altLang="en-US" sz="2400" dirty="0">
              <a:latin typeface="Times New Roman Regular" panose="02020503050405090304" charset="0"/>
              <a:cs typeface="Times New Roman Regular" panose="02020503050405090304" charset="0"/>
            </a:endParaRPr>
          </a:p>
          <a:p>
            <a:pPr marL="514350" indent="-514350">
              <a:buFont typeface="Calibri Light" pitchFamily="34" charset="0"/>
              <a:buAutoNum type="arabicPeriod"/>
            </a:pPr>
            <a:r>
              <a:rPr lang="en-US" altLang="en-US" sz="2400" b="1" dirty="0">
                <a:latin typeface="Times New Roman Bold" panose="02020503050405090304" charset="0"/>
                <a:cs typeface="Times New Roman Bold" panose="02020503050405090304" charset="0"/>
              </a:rPr>
              <a:t>"Sustainable Solid Waste Management"</a:t>
            </a:r>
            <a:r>
              <a:rPr lang="en-US" altLang="en-US" sz="2400" dirty="0">
                <a:latin typeface="Times New Roman Regular" panose="02020503050405090304" charset="0"/>
                <a:cs typeface="Times New Roman Regular" panose="02020503050405090304" charset="0"/>
              </a:rPr>
              <a:t> by Ni-Bin Chang</a:t>
            </a:r>
            <a:endParaRPr lang="en-US" altLang="en-US" sz="2400" dirty="0">
              <a:latin typeface="Times New Roman Regular" panose="02020503050405090304" charset="0"/>
              <a:cs typeface="Times New Roman Regular" panose="02020503050405090304" charset="0"/>
            </a:endParaRPr>
          </a:p>
        </p:txBody>
      </p:sp>
      <p:sp>
        <p:nvSpPr>
          <p:cNvPr id="23556" name="Date Placeholder 3"/>
          <p:cNvSpPr txBox="1">
            <a:spLocks noGrp="1"/>
          </p:cNvSpPr>
          <p:nvPr>
            <p:ph type="dt" sz="half" idx="2"/>
          </p:nvPr>
        </p:nvSpPr>
        <p:spPr>
          <a:noFill/>
          <a:ln>
            <a:noFill/>
          </a:ln>
        </p:spPr>
        <p:txBody>
          <a:bodyPr anchor="ctr" anchorCtr="0"/>
          <a:p>
            <a:pPr marL="0" indent="0">
              <a:lnSpc>
                <a:spcPct val="100000"/>
              </a:lnSpc>
              <a:spcBef>
                <a:spcPct val="0"/>
              </a:spcBef>
              <a:buFontTx/>
              <a:buNone/>
            </a:pPr>
            <a:r>
              <a:rPr lang="en-US" altLang="en-IN" dirty="0">
                <a:sym typeface="+mn-ea"/>
              </a:rPr>
              <a:t>02/04/2025</a:t>
            </a:r>
            <a:endParaRPr lang="en-IN" altLang="en-US" sz="1200" dirty="0"/>
          </a:p>
        </p:txBody>
      </p:sp>
      <p:sp>
        <p:nvSpPr>
          <p:cNvPr id="23557" name="Footer Placeholder 4"/>
          <p:cNvSpPr txBox="1">
            <a:spLocks noGrp="1"/>
          </p:cNvSpPr>
          <p:nvPr>
            <p:ph type="ftr" sz="quarter" idx="3"/>
          </p:nvPr>
        </p:nvSpPr>
        <p:spPr>
          <a:noFill/>
          <a:ln>
            <a:noFill/>
          </a:ln>
        </p:spPr>
        <p:txBody>
          <a:bodyPr anchor="ctr" anchorCtr="0"/>
          <a:p>
            <a:pPr marL="0" indent="0" algn="ctr">
              <a:lnSpc>
                <a:spcPct val="100000"/>
              </a:lnSpc>
              <a:spcBef>
                <a:spcPct val="0"/>
              </a:spcBef>
              <a:buFontTx/>
              <a:buNone/>
            </a:pPr>
            <a:r>
              <a:rPr lang="en-US" altLang="en-US" dirty="0">
                <a:sym typeface="+mn-ea"/>
              </a:rPr>
              <a:t>Project Presentation 2025</a:t>
            </a:r>
            <a:endParaRPr lang="en-IN" altLang="en-US" sz="1200" dirty="0"/>
          </a:p>
        </p:txBody>
      </p:sp>
      <p:sp>
        <p:nvSpPr>
          <p:cNvPr id="23558"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fld>
            <a:endParaRPr lang="en-IN" alt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6"/>
          <p:cNvSpPr>
            <a:spLocks noGrp="1"/>
          </p:cNvSpPr>
          <p:nvPr>
            <p:ph type="title"/>
          </p:nvPr>
        </p:nvSpPr>
        <p:spPr>
          <a:xfrm>
            <a:off x="930275" y="3055938"/>
            <a:ext cx="10515600" cy="1325562"/>
          </a:xfrm>
        </p:spPr>
        <p:txBody>
          <a:bodyPr vert="horz" wrap="square" lIns="91440" tIns="45720" rIns="91440" bIns="45720" anchor="ctr" anchorCtr="0"/>
          <a:p>
            <a:pPr algn="ctr"/>
            <a:r>
              <a:rPr lang="en-US" altLang="en-US" sz="6600" dirty="0"/>
              <a:t>Thank you</a:t>
            </a:r>
            <a:endParaRPr lang="en-IN" altLang="en-US" sz="6600" dirty="0"/>
          </a:p>
        </p:txBody>
      </p:sp>
      <p:sp>
        <p:nvSpPr>
          <p:cNvPr id="4" name="Date Placeholder 3"/>
          <p:cNvSpPr txBox="1">
            <a:spLocks noGrp="1"/>
          </p:cNvSpPr>
          <p:nvPr>
            <p:ph type="dt" sz="half" idx="2"/>
          </p:nvPr>
        </p:nvSpPr>
        <p:spPr>
          <a:noFill/>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IN" dirty="0">
                <a:sym typeface="+mn-ea"/>
              </a:rPr>
              <a:t>02/04/2025</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Project Presentation 2023</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4581" name="Slide Number Placeholder 5"/>
          <p:cNvSpPr txBox="1">
            <a:spLocks noGrp="1"/>
          </p:cNvSpPr>
          <p:nvPr>
            <p:ph type="sldNum" sz="quarter" idx="4"/>
          </p:nvPr>
        </p:nvSpPr>
        <p:spPr>
          <a:noFill/>
          <a:ln>
            <a:noFill/>
          </a:ln>
        </p:spPr>
        <p:txBody>
          <a:bodyPr anchor="ctr" anchorCtr="0"/>
          <a:p>
            <a:pPr marL="0" indent="0" algn="r">
              <a:lnSpc>
                <a:spcPct val="100000"/>
              </a:lnSpc>
              <a:spcBef>
                <a:spcPct val="0"/>
              </a:spcBef>
              <a:buFontTx/>
              <a:buNone/>
            </a:pPr>
            <a:fld id="{9A0DB2DC-4C9A-4742-B13C-FB6460FD3503}" type="slidenum">
              <a:rPr lang="en-IN" altLang="en-US" sz="1200" dirty="0">
                <a:solidFill>
                  <a:srgbClr val="898989"/>
                </a:solidFill>
              </a:rPr>
            </a:fld>
            <a:endParaRPr lang="en-IN" altLang="en-US" sz="1200" dirty="0">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4551</Words>
  <Application>WPS Writer</Application>
  <PresentationFormat>Widescreen</PresentationFormat>
  <Paragraphs>212</Paragraphs>
  <Slides>14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SimSun</vt:lpstr>
      <vt:lpstr>Wingdings</vt:lpstr>
      <vt:lpstr>Calibri</vt:lpstr>
      <vt:lpstr>Helvetica Neue</vt:lpstr>
      <vt:lpstr>Times New Roman Regular</vt:lpstr>
      <vt:lpstr>Times New Roman Bold</vt:lpstr>
      <vt:lpstr>Calibri Light</vt:lpstr>
      <vt:lpstr>Times New Roman</vt:lpstr>
      <vt:lpstr>Microsoft YaHei</vt:lpstr>
      <vt:lpstr>汉仪旗黑</vt:lpstr>
      <vt:lpstr>Arial Unicode MS</vt:lpstr>
      <vt:lpstr>汉仪书宋二KW</vt:lpstr>
      <vt:lpstr>Office Theme</vt:lpstr>
      <vt:lpstr>Smart Way Sorter</vt:lpstr>
      <vt:lpstr>Content:</vt:lpstr>
      <vt:lpstr>INTRODUCTION:</vt:lpstr>
      <vt:lpstr>Problem Statement:</vt:lpstr>
      <vt:lpstr> Flowchart of the system: </vt:lpstr>
      <vt:lpstr>PowerPoint 演示文稿</vt:lpstr>
      <vt:lpstr>PowerPoint 演示文稿</vt:lpstr>
      <vt:lpstr>UML Diagrams:</vt:lpstr>
      <vt:lpstr>PowerPoint 演示文稿</vt:lpstr>
      <vt:lpstr>PowerPoint 演示文稿</vt:lpstr>
      <vt:lpstr>Conclusion:</vt:lpstr>
      <vt:lpstr>Future Work:</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Parul Institute of Engineering &amp; Technology</dc:creator>
  <cp:lastModifiedBy>MAHESH BABU BACHINA</cp:lastModifiedBy>
  <cp:revision>29</cp:revision>
  <dcterms:created xsi:type="dcterms:W3CDTF">2025-04-01T17:46:30Z</dcterms:created>
  <dcterms:modified xsi:type="dcterms:W3CDTF">2025-04-01T17:46:30Z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6F83A61409A5D8712CACC067A1850686_43</vt:lpwstr>
  </property>
  <property fmtid="{D5CDD505-2E9C-101B-9397-08002B2CF9AE}" pid="3" name="KSOProductBuildVer">
    <vt:lpwstr>1033-6.11.0.8615</vt:lpwstr>
  </property>
</Properties>
</file>